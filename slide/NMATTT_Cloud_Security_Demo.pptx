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9f1a2c13a440cf" /><Relationship Type="http://schemas.openxmlformats.org/officeDocument/2006/relationships/extended-properties" Target="/docProps/app.xml" Id="R940a1fd9ab1f46dd" /><Relationship Type="http://schemas.openxmlformats.org/officeDocument/2006/relationships/officeDocument" Target="/ppt/presentation.xml" Id="R9b169e41b4d148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43dc8e661f4cbe"/>
  </p:sldMasterIdLst>
  <p:notesMasterIdLst>
    <p:notesMasterId xmlns:r="http://schemas.openxmlformats.org/officeDocument/2006/relationships" r:id="Ref3a2e562cfd46eb"/>
  </p:notesMasterIdLst>
  <p:sldIdLst>
    <p:sldId xmlns:r="http://schemas.openxmlformats.org/officeDocument/2006/relationships" id="256" r:id="Rc67eca0593404bde"/>
    <p:sldId xmlns:r="http://schemas.openxmlformats.org/officeDocument/2006/relationships" id="257" r:id="R5f138f538090458a"/>
    <p:sldId xmlns:r="http://schemas.openxmlformats.org/officeDocument/2006/relationships" id="258" r:id="R1ccb0447fee5459f"/>
    <p:sldId xmlns:r="http://schemas.openxmlformats.org/officeDocument/2006/relationships" id="259" r:id="R4d75e5f7dfdd4485"/>
    <p:sldId xmlns:r="http://schemas.openxmlformats.org/officeDocument/2006/relationships" id="260" r:id="Rc967bd9e2ccc4754"/>
    <p:sldId xmlns:r="http://schemas.openxmlformats.org/officeDocument/2006/relationships" id="261" r:id="R59fe926ba9344b00"/>
    <p:sldId xmlns:r="http://schemas.openxmlformats.org/officeDocument/2006/relationships" id="262" r:id="Re39251e998fc43a6"/>
    <p:sldId xmlns:r="http://schemas.openxmlformats.org/officeDocument/2006/relationships" id="263" r:id="Rcaff04571816461a"/>
    <p:sldId xmlns:r="http://schemas.openxmlformats.org/officeDocument/2006/relationships" id="264" r:id="R5a9c1449824f47d8"/>
    <p:sldId xmlns:r="http://schemas.openxmlformats.org/officeDocument/2006/relationships" id="265" r:id="R04fe6c8390414477"/>
    <p:sldId xmlns:r="http://schemas.openxmlformats.org/officeDocument/2006/relationships" id="266" r:id="Rbca0719a1a144cba"/>
    <p:sldId xmlns:r="http://schemas.openxmlformats.org/officeDocument/2006/relationships" id="267" r:id="R4caa27edad1f4c95"/>
    <p:sldId xmlns:r="http://schemas.openxmlformats.org/officeDocument/2006/relationships" id="268" r:id="Rd14f4c745223408d"/>
    <p:sldId xmlns:r="http://schemas.openxmlformats.org/officeDocument/2006/relationships" id="269" r:id="Rd7fd80fc18c54a0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7a2fdefff44945" /><Relationship Type="http://schemas.openxmlformats.org/officeDocument/2006/relationships/slideMaster" Target="/ppt/slideMasters/slideMaster1.xml" Id="R0343dc8e661f4cbe" /><Relationship Type="http://schemas.openxmlformats.org/officeDocument/2006/relationships/notesMaster" Target="/ppt/notesMasters/notesMaster1.xml" Id="Ref3a2e562cfd46eb" /><Relationship Type="http://schemas.openxmlformats.org/officeDocument/2006/relationships/presProps" Target="/ppt/presProps.xml" Id="R4817bd516242434f" /><Relationship Type="http://schemas.openxmlformats.org/officeDocument/2006/relationships/tableStyles" Target="/ppt/tableStyles.xml" Id="R737ee6a809214434" /><Relationship Type="http://schemas.openxmlformats.org/officeDocument/2006/relationships/slide" Target="/ppt/slides/slide1.xml" Id="Rc67eca0593404bde" /><Relationship Type="http://schemas.openxmlformats.org/officeDocument/2006/relationships/slide" Target="/ppt/slides/slide2.xml" Id="R5f138f538090458a" /><Relationship Type="http://schemas.openxmlformats.org/officeDocument/2006/relationships/slide" Target="/ppt/slides/slide3.xml" Id="R1ccb0447fee5459f" /><Relationship Type="http://schemas.openxmlformats.org/officeDocument/2006/relationships/slide" Target="/ppt/slides/slide4.xml" Id="R4d75e5f7dfdd4485" /><Relationship Type="http://schemas.openxmlformats.org/officeDocument/2006/relationships/slide" Target="/ppt/slides/slide5.xml" Id="Rc967bd9e2ccc4754" /><Relationship Type="http://schemas.openxmlformats.org/officeDocument/2006/relationships/slide" Target="/ppt/slides/slide6.xml" Id="R59fe926ba9344b00" /><Relationship Type="http://schemas.openxmlformats.org/officeDocument/2006/relationships/slide" Target="/ppt/slides/slide7.xml" Id="Re39251e998fc43a6" /><Relationship Type="http://schemas.openxmlformats.org/officeDocument/2006/relationships/slide" Target="/ppt/slides/slide8.xml" Id="Rcaff04571816461a" /><Relationship Type="http://schemas.openxmlformats.org/officeDocument/2006/relationships/slide" Target="/ppt/slides/slide9.xml" Id="R5a9c1449824f47d8" /><Relationship Type="http://schemas.openxmlformats.org/officeDocument/2006/relationships/slide" Target="/ppt/slides/slide10.xml" Id="R04fe6c8390414477" /><Relationship Type="http://schemas.openxmlformats.org/officeDocument/2006/relationships/slide" Target="/ppt/slides/slide11.xml" Id="Rbca0719a1a144cba" /><Relationship Type="http://schemas.openxmlformats.org/officeDocument/2006/relationships/slide" Target="/ppt/slides/slide12.xml" Id="R4caa27edad1f4c95" /><Relationship Type="http://schemas.openxmlformats.org/officeDocument/2006/relationships/slide" Target="/ppt/slides/slide13.xml" Id="Rd14f4c745223408d" /><Relationship Type="http://schemas.openxmlformats.org/officeDocument/2006/relationships/slide" Target="/ppt/slides/slide14.xml" Id="Rd7fd80fc18c54a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547fb7f05a42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2656dd21354d88" /><Relationship Type="http://schemas.openxmlformats.org/officeDocument/2006/relationships/notesMaster" Target="/ppt/notesMasters/notesMaster1.xml" Id="Re198d0944b494b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606e5732bb4edb" /><Relationship Type="http://schemas.openxmlformats.org/officeDocument/2006/relationships/notesMaster" Target="/ppt/notesMasters/notesMaster1.xml" Id="Rabed76d4ef214d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5803c4777e43aa" /><Relationship Type="http://schemas.openxmlformats.org/officeDocument/2006/relationships/notesMaster" Target="/ppt/notesMasters/notesMaster1.xml" Id="R47b04593a0d344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b2cfdc526941d2" /><Relationship Type="http://schemas.openxmlformats.org/officeDocument/2006/relationships/notesMaster" Target="/ppt/notesMasters/notesMaster1.xml" Id="R00fa165d639640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e86442ec8646dc" /><Relationship Type="http://schemas.openxmlformats.org/officeDocument/2006/relationships/notesMaster" Target="/ppt/notesMasters/notesMaster1.xml" Id="Rf4fb6ad594024d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83a2945f431f" /><Relationship Type="http://schemas.openxmlformats.org/officeDocument/2006/relationships/notesMaster" Target="/ppt/notesMasters/notesMaster1.xml" Id="Rcf66d396ffeb4d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b3468100d043c1" /><Relationship Type="http://schemas.openxmlformats.org/officeDocument/2006/relationships/notesMaster" Target="/ppt/notesMasters/notesMaster1.xml" Id="R505a78317ba449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a896ce3626454d" /><Relationship Type="http://schemas.openxmlformats.org/officeDocument/2006/relationships/notesMaster" Target="/ppt/notesMasters/notesMaster1.xml" Id="Rd171dfe588b446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603a8f21044d7e" /><Relationship Type="http://schemas.openxmlformats.org/officeDocument/2006/relationships/notesMaster" Target="/ppt/notesMasters/notesMaster1.xml" Id="R0263305779344d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f679f9a4454f67" /><Relationship Type="http://schemas.openxmlformats.org/officeDocument/2006/relationships/notesMaster" Target="/ppt/notesMasters/notesMaster1.xml" Id="R0807dbadf48c42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2f765392fb4891" /><Relationship Type="http://schemas.openxmlformats.org/officeDocument/2006/relationships/notesMaster" Target="/ppt/notesMasters/notesMaster1.xml" Id="R1bcbe9e6928843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b0dcbecf2d46ec" /><Relationship Type="http://schemas.openxmlformats.org/officeDocument/2006/relationships/notesMaster" Target="/ppt/notesMasters/notesMaster1.xml" Id="R88749f445aac48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32882e2023459e" /><Relationship Type="http://schemas.openxmlformats.org/officeDocument/2006/relationships/notesMaster" Target="/ppt/notesMasters/notesMaster1.xml" Id="Rde10ffcfe9f747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1410a3b02e41b8" /><Relationship Type="http://schemas.openxmlformats.org/officeDocument/2006/relationships/notesMaster" Target="/ppt/notesMasters/notesMaster1.xml" Id="Rec9f6cd481c942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692f2d1e3843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ae662a693641b7" /><Relationship Type="http://schemas.openxmlformats.org/officeDocument/2006/relationships/slideLayout" Target="/ppt/slideLayouts/slideLayout1.xml" Id="R99a046758f5843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a046758f5843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2ba2a2de141e9" /><Relationship Type="http://schemas.openxmlformats.org/officeDocument/2006/relationships/notesSlide" Target="/ppt/notesSlides/notesSlide1.xml" Id="R5f316315107f48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93e18128d4618" /><Relationship Type="http://schemas.openxmlformats.org/officeDocument/2006/relationships/notesSlide" Target="/ppt/notesSlides/notesSlide2.xml" Id="Ra9aa6b5d33b847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2fafbc37847a3" /><Relationship Type="http://schemas.openxmlformats.org/officeDocument/2006/relationships/notesSlide" Target="/ppt/notesSlides/notesSlide3.xml" Id="R6cbd4cef99094b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913a87ead494b" /><Relationship Type="http://schemas.openxmlformats.org/officeDocument/2006/relationships/image" Target="/ppt/media/image.png" Id="R01671a87f4704a0c" /><Relationship Type="http://schemas.openxmlformats.org/officeDocument/2006/relationships/notesSlide" Target="/ppt/notesSlides/notesSlide4.xml" Id="R9cce62e12f0d4c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008a8268d49a3" /><Relationship Type="http://schemas.openxmlformats.org/officeDocument/2006/relationships/image" Target="/ppt/media/image2.png" Id="R23ae64945a6344e1" /><Relationship Type="http://schemas.openxmlformats.org/officeDocument/2006/relationships/image" Target="/ppt/media/image3.png" Id="R0d31d684b4bb44a9" /><Relationship Type="http://schemas.openxmlformats.org/officeDocument/2006/relationships/notesSlide" Target="/ppt/notesSlides/notesSlide5.xml" Id="Ra00dea7cf17943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a8dd896054253" /><Relationship Type="http://schemas.openxmlformats.org/officeDocument/2006/relationships/notesSlide" Target="/ppt/notesSlides/notesSlide6.xml" Id="R86a23eeb9f164e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5c1126ad84df0" /><Relationship Type="http://schemas.openxmlformats.org/officeDocument/2006/relationships/image" Target="/ppt/media/image4.png" Id="Rdd5ec324df204788" /><Relationship Type="http://schemas.openxmlformats.org/officeDocument/2006/relationships/image" Target="/ppt/media/image5.png" Id="R279e51b82a884b34" /><Relationship Type="http://schemas.openxmlformats.org/officeDocument/2006/relationships/notesSlide" Target="/ppt/notesSlides/notesSlide7.xml" Id="Rc7b7b88cf3804d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1ee761df840c4" /><Relationship Type="http://schemas.openxmlformats.org/officeDocument/2006/relationships/image" Target="/ppt/media/image6.png" Id="Rfa8454effff1497c" /><Relationship Type="http://schemas.openxmlformats.org/officeDocument/2006/relationships/notesSlide" Target="/ppt/notesSlides/notesSlide8.xml" Id="R99da87a7745347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fa77ca6d9413b" /><Relationship Type="http://schemas.openxmlformats.org/officeDocument/2006/relationships/image" Target="/ppt/media/image7.png" Id="R78f9dbc0e23f4672" /><Relationship Type="http://schemas.openxmlformats.org/officeDocument/2006/relationships/image" Target="/ppt/media/image8.png" Id="R406076abd29c4558" /><Relationship Type="http://schemas.openxmlformats.org/officeDocument/2006/relationships/notesSlide" Target="/ppt/notesSlides/notesSlide9.xml" Id="Rfea2064b53b04f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479e1f6ae470f" /><Relationship Type="http://schemas.openxmlformats.org/officeDocument/2006/relationships/image" Target="/ppt/media/image9.png" Id="Rf2f31c139f534dde" /><Relationship Type="http://schemas.openxmlformats.org/officeDocument/2006/relationships/image" Target="/ppt/media/image10.png" Id="R951a5c86ceb4469d" /><Relationship Type="http://schemas.openxmlformats.org/officeDocument/2006/relationships/notesSlide" Target="/ppt/notesSlides/notesSlide10.xml" Id="R9b22322c200a44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498a4847645a9" /><Relationship Type="http://schemas.openxmlformats.org/officeDocument/2006/relationships/image" Target="/ppt/media/image11.png" Id="Rbc232e621b51410c" /><Relationship Type="http://schemas.openxmlformats.org/officeDocument/2006/relationships/image" Target="/ppt/media/image12.png" Id="R44bcf28dfa0c48d6" /><Relationship Type="http://schemas.openxmlformats.org/officeDocument/2006/relationships/notesSlide" Target="/ppt/notesSlides/notesSlide11.xml" Id="R2b7e6fb169e04c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9bb7becfb4740" /><Relationship Type="http://schemas.openxmlformats.org/officeDocument/2006/relationships/image" Target="/ppt/media/image13.png" Id="Rbeb47a48ee9b4889" /><Relationship Type="http://schemas.openxmlformats.org/officeDocument/2006/relationships/notesSlide" Target="/ppt/notesSlides/notesSlide12.xml" Id="R58aca6573e1049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868ff335d42fa" /><Relationship Type="http://schemas.openxmlformats.org/officeDocument/2006/relationships/notesSlide" Target="/ppt/notesSlides/notesSlide13.xml" Id="Ra9fc0fdd2c5f44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66a80029e45b7" /><Relationship Type="http://schemas.openxmlformats.org/officeDocument/2006/relationships/notesSlide" Target="/ppt/notesSlides/notesSlide14.xml" Id="Re1cf5161679f45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D17540-386F-4FD7-9A6D-6090BF51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EBA5D-3B2E-4E95-9781-66FD88CF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24D"/>
                </a:solidFill>
              </a:defRPr>
            </a:pPr>
            <a:r>
              <a:rPr sz="3600" b="1">
                <a:solidFill>
                  <a:srgbClr val="17324D"/>
                </a:solidFill>
              </a:rPr>
              <a:t>Điện toán đám mây và</a:t>
            </a:r>
          </a:p>
          <a:p xmlns:a="http://schemas.openxmlformats.org/drawingml/2006/main">
            <a:pPr algn="l">
              <a:defRPr sz="3600" b="1">
                <a:solidFill>
                  <a:srgbClr val="17324D"/>
                </a:solidFill>
              </a:defRPr>
            </a:pPr>
            <a:r>
              <a:rPr sz="3600" b="1">
                <a:solidFill>
                  <a:srgbClr val="17324D"/>
                </a:solidFill>
              </a:rPr>
              <a:t>Bảo mật điện toán đám mây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535FE-8414-40BA-A8B3-F5179D92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B7A"/>
                </a:solidFill>
              </a:defRPr>
            </a:pPr>
            <a:r>
              <a:rPr sz="1800" b="0">
                <a:solidFill>
                  <a:srgbClr val="5F6B7A"/>
                </a:solidFill>
              </a:rPr>
              <a:t>Phân tích rủi ro, lỗ hổng và cơ chế bảo vệ dữ liệu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60F00-D2F9-46AE-8E56-3FAD695A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Nhập môn An toàn thông tin</a:t>
            </a:r>
          </a:p>
          <a:p xmlns:a="http://schemas.openxmlformats.org/drawingml/2006/main">
            <a:pPr algn="l"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Nhóm: Đào Trường Anh, Nguyễn Đồng Minh Anh, Đoàn Đình Bằng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AD054-DB0D-4EB1-A1C9-5C387345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4E79"/>
                </a:solidFill>
              </a:defRPr>
            </a:pPr>
            <a:r>
              <a:rPr sz="1950" b="1">
                <a:solidFill>
                  <a:srgbClr val="1F4E79"/>
                </a:solidFill>
              </a:rPr>
              <a:t>Cloud Security Demo</a:t>
            </a:r>
          </a:p>
          <a:p xmlns:a="http://schemas.openxmlformats.org/drawingml/2006/main">
            <a:pPr algn="ctr">
              <a:defRPr sz="1950" b="1">
                <a:solidFill>
                  <a:srgbClr val="1F4E79"/>
                </a:solidFill>
              </a:defRPr>
            </a:pPr>
            <a:r>
              <a:rPr sz="1950" b="1">
                <a:solidFill>
                  <a:srgbClr val="1F4E79"/>
                </a:solidFill>
              </a:rPr>
              <a:t>Flask + PostgreSQL + MinIO</a:t>
            </a:r>
          </a:p>
        </p:txBody>
      </p:sp>
    </p:spTree>
    <p:extLst>
      <p:ext uri="{BB962C8B-B14F-4D97-AF65-F5344CB8AC3E}">
        <p14:creationId xmlns:p14="http://schemas.microsoft.com/office/powerpoint/2010/main" val="859118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7D7320-71E0-47E3-81AF-BE393B6D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0F032-A785-4B2C-A243-0414AA74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Mục tiêu và bố cục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5E62B-96FD-46A9-B8A9-0A47ED6E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14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AF7"/>
                </a:solidFill>
              </a:defRPr>
            </a:pPr>
            <a:r>
              <a:rPr sz="1350" b="1">
                <a:solidFill>
                  <a:srgbClr val="D9EAF7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432F2-9332-416D-BF3D-9AA6C499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723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• Tổng quan điện toán đám mây và mô hình chia sẻ trách nhiệm</a:t>
            </a:r>
          </a:p>
          <a:p xmlns:a="http://schemas.openxmlformats.org/drawingml/2006/main">
            <a:pPr algn="l"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• Phân tích rủi ro: public bucket, IAM sai, credential leakage</a:t>
            </a:r>
          </a:p>
          <a:p xmlns:a="http://schemas.openxmlformats.org/drawingml/2006/main">
            <a:pPr algn="l"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• Xây dựng lab demo bằng Docker Compose</a:t>
            </a:r>
          </a:p>
          <a:p xmlns:a="http://schemas.openxmlformats.org/drawingml/2006/main">
            <a:pPr algn="l">
              <a:defRPr sz="1950" b="0">
                <a:solidFill>
                  <a:srgbClr val="17324D"/>
                </a:solidFill>
              </a:defRPr>
            </a:pPr>
            <a:r>
              <a:rPr sz="1950" b="0">
                <a:solidFill>
                  <a:srgbClr val="17324D"/>
                </a:solidFill>
              </a:rPr>
              <a:t>• So sánh trạng thái vulnerable và fixed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0EAE3-9C69-476D-9D0F-002B125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Luồng trình bày</a:t>
            </a:r>
          </a:p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1. Lý thuyết</a:t>
            </a:r>
          </a:p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2. Rủi ro</a:t>
            </a:r>
          </a:p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3. Demo</a:t>
            </a:r>
          </a:p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4. Khắc phục</a:t>
            </a:r>
          </a:p>
        </p:txBody>
      </p:sp>
    </p:spTree>
    <p:extLst>
      <p:ext uri="{BB962C8B-B14F-4D97-AF65-F5344CB8AC3E}">
        <p14:creationId xmlns:p14="http://schemas.microsoft.com/office/powerpoint/2010/main" val="380460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758A00-7ECB-470F-A3B9-D586E275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9B938-A99E-4A30-BA63-BBEB1559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Kiến trúc hệ thống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D6230-0E2A-42CC-80C0-9826E233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14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AF7"/>
                </a:solidFill>
              </a:defRPr>
            </a:pPr>
            <a:r>
              <a:rPr sz="1350" b="1">
                <a:solidFill>
                  <a:srgbClr val="D9EAF7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9E3B2-4CD0-4143-BC4F-FEEE66A5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C8D3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User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Browser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E25A5-C74C-4C75-B438-C6549F8C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9525">
            <a:solidFill>
              <a:srgbClr val="B32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Attacker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Public URL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4236A-0E78-4665-80FE-027F497A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Flask Web App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:5000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5A9AB-99CF-4A1C-9A34-E745B60C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PostgreSQL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Customer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CA14F-5441-4F1A-8A6A-AEB9C030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9525">
            <a:solidFill>
              <a:srgbClr val="B32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MinIO Storage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:9000 / :9001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2BE6D-0FC2-480B-855E-22F4B1DF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2190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A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Encrypted Secret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18156-265B-4C02-9203-1B16F969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33650"/>
            <a:ext cx="1714500" cy="32385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2F3A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96977-9A0D-446F-B821-44FDAFE6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2286000" cy="-485775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2F3A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73B51-8871-46E4-9E92-A331B03C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2286000" cy="127635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2F3A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783AE-DB0E-4808-AFC5-EFBE0777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43400"/>
            <a:ext cx="6191250" cy="180975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2F3A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70F13-E950-4542-A88B-1319EB81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76750"/>
            <a:ext cx="0" cy="-102870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2F3A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6CA73-2105-404F-93C1-75EAE3BE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B7A"/>
                </a:solidFill>
              </a:defRPr>
            </a:pPr>
            <a:r>
              <a:rPr sz="1650" b="1">
                <a:solidFill>
                  <a:srgbClr val="5F6B7A"/>
                </a:solidFill>
              </a:rPr>
              <a:t>Docker network: cloud-lab</a:t>
            </a:r>
          </a:p>
        </p:txBody>
      </p:sp>
    </p:spTree>
    <p:extLst>
      <p:ext uri="{BB962C8B-B14F-4D97-AF65-F5344CB8AC3E}">
        <p14:creationId xmlns:p14="http://schemas.microsoft.com/office/powerpoint/2010/main" val="5003761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625682-63F2-4E52-B3B6-BAD06CE8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E39B2-2F1B-4BF3-BF14-904CE8C6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Môi trường thực nghiệm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9C8FD-B53F-4A5C-981B-70944391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14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AF7"/>
                </a:solidFill>
              </a:defRPr>
            </a:pPr>
            <a:r>
              <a:rPr sz="1350" b="1">
                <a:solidFill>
                  <a:srgbClr val="D9EAF7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1906E-1A2E-4565-B499-E751E452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Docker Compose khởi chạy 4 service: web, postgres, minio và minio-init.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71a87f4704a0c"/>
          <a:stretch xmlns:a="http://schemas.openxmlformats.org/drawingml/2006/main"/>
        </p:blipFill>
        <p:spPr>
          <a:xfrm xmlns:a="http://schemas.openxmlformats.org/drawingml/2006/main">
            <a:off x="1597471" y="1285875"/>
            <a:ext cx="7949307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77CA2-A08A-4A44-A5F4-23E771C7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476875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Bằng chứng môi trường</a:t>
            </a:r>
          </a:p>
          <a:p xmlns:a="http://schemas.openxmlformats.org/drawingml/2006/main">
            <a:pPr algn="ctr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đã chạy thành công</a:t>
            </a:r>
          </a:p>
        </p:txBody>
      </p:sp>
    </p:spTree>
    <p:extLst>
      <p:ext uri="{BB962C8B-B14F-4D97-AF65-F5344CB8AC3E}">
        <p14:creationId xmlns:p14="http://schemas.microsoft.com/office/powerpoint/2010/main" val="14688923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EA628F-E7DB-4334-8198-9E82F7D1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D4B20-9B6C-4E65-97F5-B84C13CB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Tài sản cần bảo vệ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7E473-60B8-47A5-8F32-47B3E31F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14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AF7"/>
                </a:solidFill>
              </a:defRPr>
            </a:pPr>
            <a:r>
              <a:rPr sz="1350" b="1">
                <a:solidFill>
                  <a:srgbClr val="D9EAF7"/>
                </a:solidFill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e64945a6344e1"/>
          <a:stretch xmlns:a="http://schemas.openxmlformats.org/drawingml/2006/main"/>
        </p:blipFill>
        <p:spPr>
          <a:xfrm xmlns:a="http://schemas.openxmlformats.org/drawingml/2006/main">
            <a:off x="666750" y="1409257"/>
            <a:ext cx="5143500" cy="2610736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1d684b4bb44a9"/>
          <a:stretch xmlns:a="http://schemas.openxmlformats.org/drawingml/2006/main"/>
        </p:blipFill>
        <p:spPr>
          <a:xfrm xmlns:a="http://schemas.openxmlformats.org/drawingml/2006/main">
            <a:off x="6381750" y="1413241"/>
            <a:ext cx="5143500" cy="260276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A4053-E551-4E24-8EF5-8F02EEB5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3810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PostgreSQL</a:t>
            </a:r>
          </a:p>
          <a:p xmlns:a="http://schemas.openxmlformats.org/drawingml/2006/main">
            <a:pPr algn="ctr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Dữ liệu khách hàng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6B92B-5FEC-4607-8874-0198E7F3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3810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9525">
            <a:solidFill>
              <a:srgbClr val="B32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3261E"/>
                </a:solidFill>
              </a:defRPr>
            </a:pPr>
            <a:r>
              <a:rPr sz="1500" b="1">
                <a:solidFill>
                  <a:srgbClr val="B3261E"/>
                </a:solidFill>
              </a:rPr>
              <a:t>MinIO</a:t>
            </a:r>
          </a:p>
          <a:p xmlns:a="http://schemas.openxmlformats.org/drawingml/2006/main">
            <a:pPr algn="ctr">
              <a:defRPr sz="1500" b="1">
                <a:solidFill>
                  <a:srgbClr val="B3261E"/>
                </a:solidFill>
              </a:defRPr>
            </a:pPr>
            <a:r>
              <a:rPr sz="1500" b="1">
                <a:solidFill>
                  <a:srgbClr val="B3261E"/>
                </a:solidFill>
              </a:rPr>
              <a:t>Object storage</a:t>
            </a:r>
          </a:p>
        </p:txBody>
      </p:sp>
    </p:spTree>
    <p:extLst>
      <p:ext uri="{BB962C8B-B14F-4D97-AF65-F5344CB8AC3E}">
        <p14:creationId xmlns:p14="http://schemas.microsoft.com/office/powerpoint/2010/main" val="1600120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6EBD3B-F9C0-4128-83A3-483A4D87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F1092-A30F-4292-87E4-489AF105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Phân tích rủi ro theo STRIDE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366B8-AE43-44CA-8FDB-AE75A373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14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AF7"/>
                </a:solidFill>
              </a:defRPr>
            </a:pPr>
            <a:r>
              <a:rPr sz="1350" b="1">
                <a:solidFill>
                  <a:srgbClr val="D9EAF7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A1320-CE40-4C30-9759-4B9C071E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555A2-9963-4659-9534-825B374C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1049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Spoofing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C878E-9286-4ABB-96B0-6189888C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049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Chiếm tài khoản hoặc dùng credential lộ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31CBC-F98E-4C01-9202-5F06CEB1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0BD17-0998-42EE-A85A-EFFF1694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7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Tampering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B3F32-DD77-4EC1-BE2B-A40BAC73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Sửa dữ liệu trong bucket/database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0C9FA-ABED-436A-BFBA-DBD306F0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D12F5-8D74-4591-8121-5249C7A9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90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Repudiation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13925-D221-44E3-B751-3DAD0A79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Thiếu audit log để truy vết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ADDF6-51D3-4C34-A003-BFB9AAB5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DC1CD5-0C02-401B-8B1C-AD41C61C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Info Disclosure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823A0-E393-4651-82C2-5BDECE9D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Bucket public, secret plaintext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3E450-A592-4650-A032-D7ACDBD8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16FB4-BDEF-4171-8BA7-9FC05E10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C9E42-FBB7-4533-B0CC-8A77DCC3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767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Request bất thường gây quá tải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1FE4D-FFE1-4237-823E-90A46458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E79"/>
                </a:solidFill>
              </a:defRPr>
            </a:pPr>
            <a:r>
              <a:rPr sz="1800" b="1">
                <a:solidFill>
                  <a:srgbClr val="1F4E79"/>
                </a:solidFill>
              </a:rPr>
              <a:t>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E48AD-EA82-4513-9DD5-9A64979F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96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Privilege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D6B4A-17F1-48C7-BD51-0A2DA650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96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</a:defRPr>
            </a:pPr>
            <a:r>
              <a:rPr sz="1500" b="0">
                <a:solidFill>
                  <a:srgbClr val="5F6B7A"/>
                </a:solidFill>
              </a:rPr>
              <a:t>User thường có quyền admin</a:t>
            </a:r>
          </a:p>
        </p:txBody>
      </p:sp>
    </p:spTree>
    <p:extLst>
      <p:ext uri="{BB962C8B-B14F-4D97-AF65-F5344CB8AC3E}">
        <p14:creationId xmlns:p14="http://schemas.microsoft.com/office/powerpoint/2010/main" val="1519156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5988E2-1593-4445-BA51-B11F8204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3C1BD-1F5E-4BF4-982D-57FE58C2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Lỗi 1: Public Storage Bucket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FFA94-A06E-4D7D-9460-A12307BE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14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AF7"/>
                </a:solidFill>
              </a:defRPr>
            </a:pPr>
            <a:r>
              <a:rPr sz="1350" b="1">
                <a:solidFill>
                  <a:srgbClr val="D9EAF7"/>
                </a:solidFill>
              </a:rPr>
              <a:t>07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ec324df204788"/>
          <a:stretch xmlns:a="http://schemas.openxmlformats.org/drawingml/2006/main"/>
        </p:blipFill>
        <p:spPr>
          <a:xfrm xmlns:a="http://schemas.openxmlformats.org/drawingml/2006/main">
            <a:off x="666750" y="1577833"/>
            <a:ext cx="5048250" cy="236883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e51b82a884b34"/>
          <a:stretch xmlns:a="http://schemas.openxmlformats.org/drawingml/2006/main"/>
        </p:blipFill>
        <p:spPr>
          <a:xfrm xmlns:a="http://schemas.openxmlformats.org/drawingml/2006/main">
            <a:off x="6191250" y="1490281"/>
            <a:ext cx="5048250" cy="25439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7EEFA-1C33-4B2E-AB60-BC85F301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7620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9525">
            <a:solidFill>
              <a:srgbClr val="B32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3261E"/>
                </a:solidFill>
              </a:defRPr>
            </a:pPr>
            <a:r>
              <a:rPr sz="1650" b="1">
                <a:solidFill>
                  <a:srgbClr val="B3261E"/>
                </a:solidFill>
              </a:rPr>
              <a:t>Object customers.csv có thể mở trực tiếp qua URL</a:t>
            </a:r>
          </a:p>
          <a:p xmlns:a="http://schemas.openxmlformats.org/drawingml/2006/main">
            <a:pPr algn="ctr">
              <a:defRPr sz="1650" b="1">
                <a:solidFill>
                  <a:srgbClr val="B3261E"/>
                </a:solidFill>
              </a:defRPr>
            </a:pPr>
            <a:r>
              <a:rPr sz="1650" b="1">
                <a:solidFill>
                  <a:srgbClr val="B3261E"/>
                </a:solidFill>
              </a:rPr>
              <a:t>không cần xác thực</a:t>
            </a:r>
          </a:p>
        </p:txBody>
      </p:sp>
    </p:spTree>
    <p:extLst>
      <p:ext uri="{BB962C8B-B14F-4D97-AF65-F5344CB8AC3E}">
        <p14:creationId xmlns:p14="http://schemas.microsoft.com/office/powerpoint/2010/main" val="19648977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9B2AF7-115B-4475-B4C7-C1F7A46C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BB190-D0DD-40B7-AB16-FDB44E95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Lỗi 2: IAM Misconfiguration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3F5C5-684A-454A-893B-EBCCB278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14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AF7"/>
                </a:solidFill>
              </a:defRPr>
            </a:pPr>
            <a:r>
              <a:rPr sz="1350" b="1">
                <a:solidFill>
                  <a:srgbClr val="D9EAF7"/>
                </a:solidFill>
              </a:rPr>
              <a:t>08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454effff1497c"/>
          <a:stretch xmlns:a="http://schemas.openxmlformats.org/drawingml/2006/main"/>
        </p:blipFill>
        <p:spPr>
          <a:xfrm xmlns:a="http://schemas.openxmlformats.org/drawingml/2006/main">
            <a:off x="857250" y="1174576"/>
            <a:ext cx="7239000" cy="365159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2A186-1A9F-43AD-8D5A-2CACB19F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287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alice là tài khoản người dùng thường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Trong chế độ vulnerable vẫn truy cập được /admin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Nguyên nhân: kiểm tra quyền chưa đúng ở server side</a:t>
            </a:r>
          </a:p>
        </p:txBody>
      </p:sp>
    </p:spTree>
    <p:extLst>
      <p:ext uri="{BB962C8B-B14F-4D97-AF65-F5344CB8AC3E}">
        <p14:creationId xmlns:p14="http://schemas.microsoft.com/office/powerpoint/2010/main" val="10789327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0A6549-98B5-4E53-8328-E2C68F9D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C7919-E5EC-48D7-BBB3-D11EF9E9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Lỗi 3: Credential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03C84-3022-4F9D-B736-A4506AC0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14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AF7"/>
                </a:solidFill>
              </a:defRPr>
            </a:pPr>
            <a:r>
              <a:rPr sz="1350" b="1">
                <a:solidFill>
                  <a:srgbClr val="D9EAF7"/>
                </a:solidFill>
              </a:rPr>
              <a:t>09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9dbc0e23f4672"/>
          <a:stretch xmlns:a="http://schemas.openxmlformats.org/drawingml/2006/main"/>
        </p:blipFill>
        <p:spPr>
          <a:xfrm xmlns:a="http://schemas.openxmlformats.org/drawingml/2006/main">
            <a:off x="762000" y="1368244"/>
            <a:ext cx="5810250" cy="2930888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076abd29c4558"/>
          <a:stretch xmlns:a="http://schemas.openxmlformats.org/drawingml/2006/main"/>
        </p:blipFill>
        <p:spPr>
          <a:xfrm xmlns:a="http://schemas.openxmlformats.org/drawingml/2006/main">
            <a:off x="7000875" y="1392187"/>
            <a:ext cx="3857625" cy="288300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FFC33-3365-40C9-9E31-B20D76E3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9525">
            <a:solidFill>
              <a:srgbClr val="B32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3261E"/>
                </a:solidFill>
              </a:defRPr>
            </a:pPr>
            <a:r>
              <a:rPr sz="1650" b="1">
                <a:solidFill>
                  <a:srgbClr val="B3261E"/>
                </a:solidFill>
              </a:rPr>
              <a:t>DB password, access key và secret key xuất hiện ở dạng rõ</a:t>
            </a:r>
          </a:p>
        </p:txBody>
      </p:sp>
    </p:spTree>
    <p:extLst>
      <p:ext uri="{BB962C8B-B14F-4D97-AF65-F5344CB8AC3E}">
        <p14:creationId xmlns:p14="http://schemas.microsoft.com/office/powerpoint/2010/main" val="1062910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D7C2E2-18FC-41DB-87E8-613FB537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9E0B2-6F80-464A-8DC7-2A8AFBEE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Chuyển sang trạng thái fixed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55BC0-997A-4DDF-A02C-984E3376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14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AF7"/>
                </a:solidFill>
              </a:defRPr>
            </a:pPr>
            <a:r>
              <a:rPr sz="1350" b="1">
                <a:solidFill>
                  <a:srgbClr val="D9EAF7"/>
                </a:solidFill>
              </a:rPr>
              <a:t>10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31c139f534dde"/>
          <a:stretch xmlns:a="http://schemas.openxmlformats.org/drawingml/2006/main"/>
        </p:blipFill>
        <p:spPr>
          <a:xfrm xmlns:a="http://schemas.openxmlformats.org/drawingml/2006/main">
            <a:off x="904875" y="1238037"/>
            <a:ext cx="4333875" cy="3238927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a5c86ceb4469d"/>
          <a:stretch xmlns:a="http://schemas.openxmlformats.org/drawingml/2006/main"/>
        </p:blipFill>
        <p:spPr>
          <a:xfrm xmlns:a="http://schemas.openxmlformats.org/drawingml/2006/main">
            <a:off x="6953250" y="1255697"/>
            <a:ext cx="4333875" cy="320360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FBF02-60F4-43E0-9877-B3DBD88D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9525">
            <a:solidFill>
              <a:srgbClr val="B326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3261E"/>
                </a:solidFill>
              </a:defRPr>
            </a:pPr>
            <a:r>
              <a:rPr sz="1500" b="1">
                <a:solidFill>
                  <a:srgbClr val="B3261E"/>
                </a:solidFill>
              </a:rPr>
              <a:t>Before</a:t>
            </a:r>
          </a:p>
          <a:p xmlns:a="http://schemas.openxmlformats.org/drawingml/2006/main">
            <a:pPr algn="ctr">
              <a:defRPr sz="1500" b="1">
                <a:solidFill>
                  <a:srgbClr val="B3261E"/>
                </a:solidFill>
              </a:defRPr>
            </a:pPr>
            <a:r>
              <a:rPr sz="1500" b="1">
                <a:solidFill>
                  <a:srgbClr val="B3261E"/>
                </a:solidFill>
              </a:rPr>
              <a:t>APP_MODE=vulnerable</a:t>
            </a:r>
          </a:p>
          <a:p xmlns:a="http://schemas.openxmlformats.org/drawingml/2006/main">
            <a:pPr algn="ctr">
              <a:defRPr sz="1500" b="1">
                <a:solidFill>
                  <a:srgbClr val="B3261E"/>
                </a:solidFill>
              </a:defRPr>
            </a:pPr>
            <a:r>
              <a:rPr sz="1500" b="1">
                <a:solidFill>
                  <a:srgbClr val="B3261E"/>
                </a:solidFill>
              </a:rPr>
              <a:t>SECRET_MODE=plaintext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B20EA-1C6E-4F71-A6BD-12BA55B5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10125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FA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32"/>
                </a:solidFill>
              </a:defRPr>
            </a:pPr>
            <a:r>
              <a:rPr sz="1500" b="1">
                <a:solidFill>
                  <a:srgbClr val="2E7D32"/>
                </a:solidFill>
              </a:rPr>
              <a:t>After</a:t>
            </a:r>
          </a:p>
          <a:p xmlns:a="http://schemas.openxmlformats.org/drawingml/2006/main">
            <a:pPr algn="ctr">
              <a:defRPr sz="1500" b="1">
                <a:solidFill>
                  <a:srgbClr val="2E7D32"/>
                </a:solidFill>
              </a:defRPr>
            </a:pPr>
            <a:r>
              <a:rPr sz="1500" b="1">
                <a:solidFill>
                  <a:srgbClr val="2E7D32"/>
                </a:solidFill>
              </a:rPr>
              <a:t>APP_MODE=fixed</a:t>
            </a:r>
          </a:p>
          <a:p xmlns:a="http://schemas.openxmlformats.org/drawingml/2006/main">
            <a:pPr algn="ctr">
              <a:defRPr sz="1500" b="1">
                <a:solidFill>
                  <a:srgbClr val="2E7D32"/>
                </a:solidFill>
              </a:defRPr>
            </a:pPr>
            <a:r>
              <a:rPr sz="1500" b="1">
                <a:solidFill>
                  <a:srgbClr val="2E7D32"/>
                </a:solidFill>
              </a:rPr>
              <a:t>SECRET_MODE=encrypted</a:t>
            </a:r>
          </a:p>
        </p:txBody>
      </p:sp>
    </p:spTree>
    <p:extLst>
      <p:ext uri="{BB962C8B-B14F-4D97-AF65-F5344CB8AC3E}">
        <p14:creationId xmlns:p14="http://schemas.microsoft.com/office/powerpoint/2010/main" val="11300929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2CF3A9-FAA1-4708-ABE7-588F6A5C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127A9-5BF9-4D78-A8A3-75FF1D1C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Kết quả sau khắc phục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7003C-EB38-4820-BC5F-D1D30900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14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AF7"/>
                </a:solidFill>
              </a:defRPr>
            </a:pPr>
            <a:r>
              <a:rPr sz="1350" b="1">
                <a:solidFill>
                  <a:srgbClr val="D9EAF7"/>
                </a:solidFill>
              </a:rPr>
              <a:t>11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32e621b51410c"/>
          <a:stretch xmlns:a="http://schemas.openxmlformats.org/drawingml/2006/main"/>
        </p:blipFill>
        <p:spPr>
          <a:xfrm xmlns:a="http://schemas.openxmlformats.org/drawingml/2006/main">
            <a:off x="666750" y="1416682"/>
            <a:ext cx="5143500" cy="259588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cf28dfa0c48d6"/>
          <a:stretch xmlns:a="http://schemas.openxmlformats.org/drawingml/2006/main"/>
        </p:blipFill>
        <p:spPr>
          <a:xfrm xmlns:a="http://schemas.openxmlformats.org/drawingml/2006/main">
            <a:off x="6381750" y="1422004"/>
            <a:ext cx="5143500" cy="258524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9BBA7-F9B7-4817-B04B-CE1DBFEC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3810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1FA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32"/>
                </a:solidFill>
              </a:defRPr>
            </a:pPr>
            <a:r>
              <a:rPr sz="1500" b="1">
                <a:solidFill>
                  <a:srgbClr val="2E7D32"/>
                </a:solidFill>
              </a:rPr>
              <a:t>alice bị chặn khỏi /admin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9CB84-3CB0-47E5-9A6A-A27812E2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4000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1FA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32"/>
                </a:solidFill>
              </a:defRPr>
            </a:pPr>
            <a:r>
              <a:rPr sz="1500" b="1">
                <a:solidFill>
                  <a:srgbClr val="2E7D32"/>
                </a:solidFill>
              </a:rPr>
              <a:t>object private, truy cập trực tiếp bị từ chối</a:t>
            </a:r>
          </a:p>
        </p:txBody>
      </p:sp>
    </p:spTree>
    <p:extLst>
      <p:ext uri="{BB962C8B-B14F-4D97-AF65-F5344CB8AC3E}">
        <p14:creationId xmlns:p14="http://schemas.microsoft.com/office/powerpoint/2010/main" val="4321322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318779-EF65-408C-A1CF-79F01196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E0C22-AC5C-48DC-A50A-F7678679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Secret được mã hóa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2EB6A-B25D-407A-AB54-1A53EA08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14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AF7"/>
                </a:solidFill>
              </a:defRPr>
            </a:pPr>
            <a:r>
              <a:rPr sz="1350" b="1">
                <a:solidFill>
                  <a:srgbClr val="D9EAF7"/>
                </a:solidFill>
              </a:rPr>
              <a:t>12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47a48ee9b4889"/>
          <a:stretch xmlns:a="http://schemas.openxmlformats.org/drawingml/2006/main"/>
        </p:blipFill>
        <p:spPr>
          <a:xfrm xmlns:a="http://schemas.openxmlformats.org/drawingml/2006/main">
            <a:off x="952500" y="1174576"/>
            <a:ext cx="7239000" cy="365159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0F53C-A692-47E5-BA5F-E646B464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76375"/>
            <a:ext cx="27146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Secret được tách khỏi cấu hình trực tiếp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Ứng dụng chỉ giải mã khi chạy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Giảm tác động nếu source/config bị lộ</a:t>
            </a:r>
          </a:p>
        </p:txBody>
      </p:sp>
    </p:spTree>
    <p:extLst>
      <p:ext uri="{BB962C8B-B14F-4D97-AF65-F5344CB8AC3E}">
        <p14:creationId xmlns:p14="http://schemas.microsoft.com/office/powerpoint/2010/main" val="16987354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D5EEA7-83FE-4A3D-B463-0629F5C0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5370D-3FAD-4F67-A6E7-41C68F07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So sánh trước và sau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19093-E4CB-40A8-BDA4-11B4EC4F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14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AF7"/>
                </a:solidFill>
              </a:defRPr>
            </a:pPr>
            <a:r>
              <a:rPr sz="1350" b="1">
                <a:solidFill>
                  <a:srgbClr val="D9EAF7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7A7BB-5382-4A48-85C6-3E15E162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2190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Hạng mục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73299-D7E4-49D5-B317-C0D22D76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381125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Trước khi khắc phục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3AC77-029F-42FD-B69C-DBD0E4D0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381125"/>
            <a:ext cx="4095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Sau khi khắc phục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AB65B-B777-40C1-8B04-6CC58ED3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2190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C8D3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Public Bucket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8EE02-1C7B-4939-8D9D-049B2548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76425"/>
            <a:ext cx="4095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Object trong MinIO mở trực tiếp không cần xác thực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2543D-8D53-454B-A467-3685F057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76425"/>
            <a:ext cx="4095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Bucket private, truy cập trực tiếp bị từ chối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AA845-8C3E-45DD-8D18-499B43A8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2190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C8D3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IAM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D0E6F-1A27-497A-A17E-13FBB7C0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81275"/>
            <a:ext cx="4095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User thường alice truy cập được /admin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0A45D-0BDE-4B86-ACE4-DAEF9CAD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81275"/>
            <a:ext cx="4095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alice bị chặn khỏi trang quản trị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D367C-DAD8-41CD-8B0F-69AD463D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190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C8D3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Credential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C9597-5A61-47EB-BA21-58792EE6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86125"/>
            <a:ext cx="4095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DB password và MinIO key ở dạng rõ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5B637-9846-4122-B7DA-3CB4F043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86125"/>
            <a:ext cx="4095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Secret được tách riêng và mã hóa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23359-02AF-4794-8386-C820A5DE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2190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C8D3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Rủi 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C4847D-B1B4-4A00-B8DB-4D979B67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90975"/>
            <a:ext cx="4095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Có nguy cơ rò rỉ dữ liệu khách hàng và secret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9FFE3-D416-421C-86AC-B4414BE7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90975"/>
            <a:ext cx="4095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Giảm rủi ro bằng least privilege và encrypted secret</a:t>
            </a:r>
          </a:p>
        </p:txBody>
      </p:sp>
    </p:spTree>
    <p:extLst>
      <p:ext uri="{BB962C8B-B14F-4D97-AF65-F5344CB8AC3E}">
        <p14:creationId xmlns:p14="http://schemas.microsoft.com/office/powerpoint/2010/main" val="21137838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0BD90B-F9A2-4111-8943-BA24971E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1F4E7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8529F-7193-4B68-B9B2-5050DE2E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Kết luận và demo trực tiếp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3D707-85EB-45B9-AB3B-16C8BB2E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143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AF7"/>
                </a:solidFill>
              </a:defRPr>
            </a:pPr>
            <a:r>
              <a:rPr sz="1350" b="1">
                <a:solidFill>
                  <a:srgbClr val="D9EAF7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B6071-1CFD-40C8-B972-8600600B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6572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Cloud security phụ thuộc mạnh vào cấu hình và phân quyền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Ba lỗi demo đều phổ biến: public bucket, quyền quá mức, secret plaintext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Biện pháp chính: private-by-default, least privilege, encrypted secret, audit 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5217C-7E91-469F-8BDE-6BCC5845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38250"/>
            <a:ext cx="2952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Live demo đề xuất</a:t>
            </a:r>
          </a:p>
          <a:p xmlns:a="http://schemas.openxmlformats.org/drawingml/2006/main">
            <a:pPr algn="ctr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1. /storage public object</a:t>
            </a:r>
          </a:p>
          <a:p xmlns:a="http://schemas.openxmlformats.org/drawingml/2006/main">
            <a:pPr algn="ctr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2. alice truy cập /admin</a:t>
            </a:r>
          </a:p>
          <a:p xmlns:a="http://schemas.openxmlformats.org/drawingml/2006/main">
            <a:pPr algn="ctr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3. chuyển sang fixed</a:t>
            </a:r>
          </a:p>
          <a:p xmlns:a="http://schemas.openxmlformats.org/drawingml/2006/main">
            <a:pPr algn="ctr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4. object/admin bị chặn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64146-6404-47CA-83A5-3A53C1F1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Thông điệp chính: cấu hình nhỏ có thể tạo rủi ro lớn, nhưng kiểm soát đúng giúp giảm đáng kể bề mặt tấn công.</a:t>
            </a:r>
          </a:p>
        </p:txBody>
      </p:sp>
    </p:spTree>
    <p:extLst>
      <p:ext uri="{BB962C8B-B14F-4D97-AF65-F5344CB8AC3E}">
        <p14:creationId xmlns:p14="http://schemas.microsoft.com/office/powerpoint/2010/main" val="584521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2026-06-26T04:20:51.7430000Z</dcterms:created>
  <dcterms:modified xsi:type="dcterms:W3CDTF">2026-06-26T04:20:51.7430000Z</dcterms:modified>
</coreProperties>
</file>