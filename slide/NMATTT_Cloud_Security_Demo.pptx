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32122c65b964137" /><Relationship Type="http://schemas.openxmlformats.org/officeDocument/2006/relationships/extended-properties" Target="/docProps/app.xml" Id="Rf0215b5645324a5d" /><Relationship Type="http://schemas.openxmlformats.org/officeDocument/2006/relationships/officeDocument" Target="/ppt/presentation.xml" Id="R3f8380b8a432486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2e6f98103c1436e"/>
  </p:sldMasterIdLst>
  <p:notesMasterIdLst>
    <p:notesMasterId xmlns:r="http://schemas.openxmlformats.org/officeDocument/2006/relationships" r:id="Re1d503e94a1345f3"/>
  </p:notesMasterIdLst>
  <p:sldIdLst>
    <p:sldId xmlns:r="http://schemas.openxmlformats.org/officeDocument/2006/relationships" id="256" r:id="R6439d8e28e434101"/>
    <p:sldId xmlns:r="http://schemas.openxmlformats.org/officeDocument/2006/relationships" id="257" r:id="R0384bccb8ff24e41"/>
    <p:sldId xmlns:r="http://schemas.openxmlformats.org/officeDocument/2006/relationships" id="258" r:id="Rb50a7c2ab95545e0"/>
    <p:sldId xmlns:r="http://schemas.openxmlformats.org/officeDocument/2006/relationships" id="259" r:id="R52d7f6d71a42417a"/>
    <p:sldId xmlns:r="http://schemas.openxmlformats.org/officeDocument/2006/relationships" id="260" r:id="R94f31e46f57d41f3"/>
    <p:sldId xmlns:r="http://schemas.openxmlformats.org/officeDocument/2006/relationships" id="261" r:id="Rb4121088d63e4acb"/>
    <p:sldId xmlns:r="http://schemas.openxmlformats.org/officeDocument/2006/relationships" id="262" r:id="R36c012a1b51f4286"/>
    <p:sldId xmlns:r="http://schemas.openxmlformats.org/officeDocument/2006/relationships" id="263" r:id="R263f3748c4c24eef"/>
    <p:sldId xmlns:r="http://schemas.openxmlformats.org/officeDocument/2006/relationships" id="264" r:id="R381126678a9b4b83"/>
    <p:sldId xmlns:r="http://schemas.openxmlformats.org/officeDocument/2006/relationships" id="265" r:id="Rca5d4e7bc61f4f8e"/>
    <p:sldId xmlns:r="http://schemas.openxmlformats.org/officeDocument/2006/relationships" id="266" r:id="Rf3d0785b54ac49ba"/>
    <p:sldId xmlns:r="http://schemas.openxmlformats.org/officeDocument/2006/relationships" id="267" r:id="R0e8837df105e4d4e"/>
    <p:sldId xmlns:r="http://schemas.openxmlformats.org/officeDocument/2006/relationships" id="268" r:id="R031f1d0314a34b5e"/>
    <p:sldId xmlns:r="http://schemas.openxmlformats.org/officeDocument/2006/relationships" id="269" r:id="R8c1a67cd24d04ad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7c6249b9c1544d6" /><Relationship Type="http://schemas.openxmlformats.org/officeDocument/2006/relationships/slideMaster" Target="/ppt/slideMasters/slideMaster1.xml" Id="R02e6f98103c1436e" /><Relationship Type="http://schemas.openxmlformats.org/officeDocument/2006/relationships/notesMaster" Target="/ppt/notesMasters/notesMaster1.xml" Id="Re1d503e94a1345f3" /><Relationship Type="http://schemas.openxmlformats.org/officeDocument/2006/relationships/presProps" Target="/ppt/presProps.xml" Id="R54279f623e62426c" /><Relationship Type="http://schemas.openxmlformats.org/officeDocument/2006/relationships/tableStyles" Target="/ppt/tableStyles.xml" Id="R3371dccb7895401a" /><Relationship Type="http://schemas.openxmlformats.org/officeDocument/2006/relationships/slide" Target="/ppt/slides/slide1.xml" Id="R6439d8e28e434101" /><Relationship Type="http://schemas.openxmlformats.org/officeDocument/2006/relationships/slide" Target="/ppt/slides/slide2.xml" Id="R0384bccb8ff24e41" /><Relationship Type="http://schemas.openxmlformats.org/officeDocument/2006/relationships/slide" Target="/ppt/slides/slide3.xml" Id="Rb50a7c2ab95545e0" /><Relationship Type="http://schemas.openxmlformats.org/officeDocument/2006/relationships/slide" Target="/ppt/slides/slide4.xml" Id="R52d7f6d71a42417a" /><Relationship Type="http://schemas.openxmlformats.org/officeDocument/2006/relationships/slide" Target="/ppt/slides/slide5.xml" Id="R94f31e46f57d41f3" /><Relationship Type="http://schemas.openxmlformats.org/officeDocument/2006/relationships/slide" Target="/ppt/slides/slide6.xml" Id="Rb4121088d63e4acb" /><Relationship Type="http://schemas.openxmlformats.org/officeDocument/2006/relationships/slide" Target="/ppt/slides/slide7.xml" Id="R36c012a1b51f4286" /><Relationship Type="http://schemas.openxmlformats.org/officeDocument/2006/relationships/slide" Target="/ppt/slides/slide8.xml" Id="R263f3748c4c24eef" /><Relationship Type="http://schemas.openxmlformats.org/officeDocument/2006/relationships/slide" Target="/ppt/slides/slide9.xml" Id="R381126678a9b4b83" /><Relationship Type="http://schemas.openxmlformats.org/officeDocument/2006/relationships/slide" Target="/ppt/slides/slide10.xml" Id="Rca5d4e7bc61f4f8e" /><Relationship Type="http://schemas.openxmlformats.org/officeDocument/2006/relationships/slide" Target="/ppt/slides/slide11.xml" Id="Rf3d0785b54ac49ba" /><Relationship Type="http://schemas.openxmlformats.org/officeDocument/2006/relationships/slide" Target="/ppt/slides/slide12.xml" Id="R0e8837df105e4d4e" /><Relationship Type="http://schemas.openxmlformats.org/officeDocument/2006/relationships/slide" Target="/ppt/slides/slide13.xml" Id="R031f1d0314a34b5e" /><Relationship Type="http://schemas.openxmlformats.org/officeDocument/2006/relationships/slide" Target="/ppt/slides/slide14.xml" Id="R8c1a67cd24d04ad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f16242a261b414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4ec39ed23474696" /><Relationship Type="http://schemas.openxmlformats.org/officeDocument/2006/relationships/notesMaster" Target="/ppt/notesMasters/notesMaster1.xml" Id="R016ac91082154a2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f4778d39a3149d8" /><Relationship Type="http://schemas.openxmlformats.org/officeDocument/2006/relationships/notesMaster" Target="/ppt/notesMasters/notesMaster1.xml" Id="R5303eebd7298427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b78e81e8db14716" /><Relationship Type="http://schemas.openxmlformats.org/officeDocument/2006/relationships/notesMaster" Target="/ppt/notesMasters/notesMaster1.xml" Id="Rc09f04cc664a42a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c49cef3959d4b3e" /><Relationship Type="http://schemas.openxmlformats.org/officeDocument/2006/relationships/notesMaster" Target="/ppt/notesMasters/notesMaster1.xml" Id="R0207ea7750f8403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7e81d649eaf4331" /><Relationship Type="http://schemas.openxmlformats.org/officeDocument/2006/relationships/notesMaster" Target="/ppt/notesMasters/notesMaster1.xml" Id="R7c45bb77e30e434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1f9aa971d2b423b" /><Relationship Type="http://schemas.openxmlformats.org/officeDocument/2006/relationships/notesMaster" Target="/ppt/notesMasters/notesMaster1.xml" Id="R909ab56b3ce94cd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469501f606945b8" /><Relationship Type="http://schemas.openxmlformats.org/officeDocument/2006/relationships/notesMaster" Target="/ppt/notesMasters/notesMaster1.xml" Id="R72484a47516c4a3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e99404ff8934f51" /><Relationship Type="http://schemas.openxmlformats.org/officeDocument/2006/relationships/notesMaster" Target="/ppt/notesMasters/notesMaster1.xml" Id="R539d9cb3b22e445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fe098e13bad4c0e" /><Relationship Type="http://schemas.openxmlformats.org/officeDocument/2006/relationships/notesMaster" Target="/ppt/notesMasters/notesMaster1.xml" Id="R9cbada83da774cc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223c74283c94826" /><Relationship Type="http://schemas.openxmlformats.org/officeDocument/2006/relationships/notesMaster" Target="/ppt/notesMasters/notesMaster1.xml" Id="R30f092e239114ac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894e080eee748a6" /><Relationship Type="http://schemas.openxmlformats.org/officeDocument/2006/relationships/notesMaster" Target="/ppt/notesMasters/notesMaster1.xml" Id="R3b5cc455a193464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fba822a52044538" /><Relationship Type="http://schemas.openxmlformats.org/officeDocument/2006/relationships/notesMaster" Target="/ppt/notesMasters/notesMaster1.xml" Id="R91b3631d09704f5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5b99dd792b7435a" /><Relationship Type="http://schemas.openxmlformats.org/officeDocument/2006/relationships/notesMaster" Target="/ppt/notesMasters/notesMaster1.xml" Id="R85d92d04475e4f6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a298431eedc483d" /><Relationship Type="http://schemas.openxmlformats.org/officeDocument/2006/relationships/notesMaster" Target="/ppt/notesMasters/notesMaster1.xml" Id="R97de546a14d14ce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02a3b0e2844d5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274dc1f30c94078" /><Relationship Type="http://schemas.openxmlformats.org/officeDocument/2006/relationships/slideLayout" Target="/ppt/slideLayouts/slideLayout1.xml" Id="R903580de43e9470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03580de43e9470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7c76060c474102" /><Relationship Type="http://schemas.openxmlformats.org/officeDocument/2006/relationships/notesSlide" Target="/ppt/notesSlides/notesSlide1.xml" Id="Ra89ae02ccd8b40b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aa6b6a40354a65" /><Relationship Type="http://schemas.openxmlformats.org/officeDocument/2006/relationships/notesSlide" Target="/ppt/notesSlides/notesSlide2.xml" Id="R093a2a9c0512454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cdb229dd034bd8" /><Relationship Type="http://schemas.openxmlformats.org/officeDocument/2006/relationships/notesSlide" Target="/ppt/notesSlides/notesSlide3.xml" Id="Rd3e2422b7adb46c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2853413a1e48f7" /><Relationship Type="http://schemas.openxmlformats.org/officeDocument/2006/relationships/image" Target="/ppt/media/image.png" Id="Re0508a928b334f5e" /><Relationship Type="http://schemas.openxmlformats.org/officeDocument/2006/relationships/notesSlide" Target="/ppt/notesSlides/notesSlide4.xml" Id="R4809c997a2874ca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1e0b161de248a9" /><Relationship Type="http://schemas.openxmlformats.org/officeDocument/2006/relationships/image" Target="/ppt/media/image2.png" Id="R7597daa553c84899" /><Relationship Type="http://schemas.openxmlformats.org/officeDocument/2006/relationships/image" Target="/ppt/media/image3.png" Id="R1b99ec653eb64940" /><Relationship Type="http://schemas.openxmlformats.org/officeDocument/2006/relationships/notesSlide" Target="/ppt/notesSlides/notesSlide5.xml" Id="R7fec5e6b6c9746f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e00facc4cc408f" /><Relationship Type="http://schemas.openxmlformats.org/officeDocument/2006/relationships/notesSlide" Target="/ppt/notesSlides/notesSlide6.xml" Id="Rb656bc255eff472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0a673462d2430d" /><Relationship Type="http://schemas.openxmlformats.org/officeDocument/2006/relationships/image" Target="/ppt/media/image4.png" Id="Rfa9086b6d2d94015" /><Relationship Type="http://schemas.openxmlformats.org/officeDocument/2006/relationships/image" Target="/ppt/media/image5.png" Id="R60b2f1b8b5084a51" /><Relationship Type="http://schemas.openxmlformats.org/officeDocument/2006/relationships/notesSlide" Target="/ppt/notesSlides/notesSlide7.xml" Id="R3e08d900b3ec4d9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62713268bf4837" /><Relationship Type="http://schemas.openxmlformats.org/officeDocument/2006/relationships/image" Target="/ppt/media/image6.png" Id="R5f569076e8224cf0" /><Relationship Type="http://schemas.openxmlformats.org/officeDocument/2006/relationships/notesSlide" Target="/ppt/notesSlides/notesSlide8.xml" Id="Rc3cbee7da4cf41e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5c49c8f4294e2c" /><Relationship Type="http://schemas.openxmlformats.org/officeDocument/2006/relationships/image" Target="/ppt/media/image7.png" Id="Rcf52d3aea914404f" /><Relationship Type="http://schemas.openxmlformats.org/officeDocument/2006/relationships/image" Target="/ppt/media/image8.png" Id="R00e89dd1e3e34e2a" /><Relationship Type="http://schemas.openxmlformats.org/officeDocument/2006/relationships/notesSlide" Target="/ppt/notesSlides/notesSlide9.xml" Id="Rfe0c292517fd4e7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1fb39e611e4b61" /><Relationship Type="http://schemas.openxmlformats.org/officeDocument/2006/relationships/image" Target="/ppt/media/image9.png" Id="Rade2056ced1a491a" /><Relationship Type="http://schemas.openxmlformats.org/officeDocument/2006/relationships/image" Target="/ppt/media/image10.png" Id="R998ee953f5214c64" /><Relationship Type="http://schemas.openxmlformats.org/officeDocument/2006/relationships/notesSlide" Target="/ppt/notesSlides/notesSlide10.xml" Id="Rbcabbb04903d43d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25c8e500124aab" /><Relationship Type="http://schemas.openxmlformats.org/officeDocument/2006/relationships/image" Target="/ppt/media/image11.png" Id="R01b68f80172343c5" /><Relationship Type="http://schemas.openxmlformats.org/officeDocument/2006/relationships/image" Target="/ppt/media/image12.png" Id="R2d5440ea4a934441" /><Relationship Type="http://schemas.openxmlformats.org/officeDocument/2006/relationships/notesSlide" Target="/ppt/notesSlides/notesSlide11.xml" Id="R96b124dc5efa4c0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69f1d27bf74396" /><Relationship Type="http://schemas.openxmlformats.org/officeDocument/2006/relationships/image" Target="/ppt/media/image13.png" Id="Rfcc5c73875a54674" /><Relationship Type="http://schemas.openxmlformats.org/officeDocument/2006/relationships/notesSlide" Target="/ppt/notesSlides/notesSlide12.xml" Id="Rbfcf1dcbf4384ca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d77dc312c74d8f" /><Relationship Type="http://schemas.openxmlformats.org/officeDocument/2006/relationships/notesSlide" Target="/ppt/notesSlides/notesSlide13.xml" Id="R0ed938d63cd9434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41b68678a642ea" /><Relationship Type="http://schemas.openxmlformats.org/officeDocument/2006/relationships/notesSlide" Target="/ppt/notesSlides/notesSlide14.xml" Id="Rf86322cca2bc437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FB4366-FA8C-4329-8A09-4BB0866F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8FC"/>
          </a:solidFill>
          <a:ln xmlns:a="http://schemas.openxmlformats.org/drawingml/2006/main" w="0">
            <a:solidFill>
              <a:srgbClr val="F4F8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7BFC6C-6ABD-4B47-965E-96F805FCC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1F4E7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FBFAFF-E426-4D87-8C19-7D637F885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F4E79"/>
                </a:solidFill>
              </a:defRPr>
            </a:pPr>
            <a:r>
              <a:rPr sz="1425" b="1">
                <a:solidFill>
                  <a:srgbClr val="1F4E79"/>
                </a:solidFill>
              </a:rPr>
              <a:t>BÁO CÁO &amp; DEMO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5C4AC1-E2AE-4B62-8918-63AE6E60A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23950"/>
            <a:ext cx="7239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324D"/>
                </a:solidFill>
              </a:defRPr>
            </a:pPr>
            <a:r>
              <a:rPr sz="3750" b="1">
                <a:solidFill>
                  <a:srgbClr val="17324D"/>
                </a:solidFill>
              </a:rPr>
              <a:t>Điện toán đám mây và</a:t>
            </a:r>
          </a:p>
          <a:p xmlns:a="http://schemas.openxmlformats.org/drawingml/2006/main">
            <a:pPr algn="l">
              <a:defRPr sz="3750" b="1">
                <a:solidFill>
                  <a:srgbClr val="17324D"/>
                </a:solidFill>
              </a:defRPr>
            </a:pPr>
            <a:r>
              <a:rPr sz="3750" b="1">
                <a:solidFill>
                  <a:srgbClr val="17324D"/>
                </a:solidFill>
              </a:rPr>
              <a:t>Bảo mật điện toán đám mây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46C86A-486C-4E0F-939E-23B972EC7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57500"/>
            <a:ext cx="7953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F6B7A"/>
                </a:solidFill>
              </a:defRPr>
            </a:pPr>
            <a:r>
              <a:rPr sz="1800" b="0">
                <a:solidFill>
                  <a:srgbClr val="5F6B7A"/>
                </a:solidFill>
              </a:rPr>
              <a:t>Phân tích rủi ro, lỗ hổng và cơ chế bảo vệ dữ liệu trong môi trường cloud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319F54-0B57-4FED-9470-A2CFFD39F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86375"/>
            <a:ext cx="7810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324D"/>
                </a:solidFill>
              </a:defRPr>
            </a:pPr>
            <a:r>
              <a:rPr sz="1425" b="0">
                <a:solidFill>
                  <a:srgbClr val="17324D"/>
                </a:solidFill>
              </a:rPr>
              <a:t>Môn học: Nhập môn An toàn thông tin</a:t>
            </a:r>
          </a:p>
          <a:p xmlns:a="http://schemas.openxmlformats.org/drawingml/2006/main">
            <a:pPr algn="l">
              <a:defRPr sz="1425" b="0">
                <a:solidFill>
                  <a:srgbClr val="17324D"/>
                </a:solidFill>
              </a:defRPr>
            </a:pPr>
            <a:r>
              <a:rPr sz="1425" b="0">
                <a:solidFill>
                  <a:srgbClr val="17324D"/>
                </a:solidFill>
              </a:rPr>
              <a:t>Nhóm: Đào Trường Anh - Nguyễn Đồng Minh Anh - Đoàn Đình Bằng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D22871-37A9-46C6-840B-788492D8D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257300"/>
            <a:ext cx="2762250" cy="2619375"/>
          </a:xfrm>
          <a:prstGeom xmlns:a="http://schemas.openxmlformats.org/drawingml/2006/main" prst="roundRect">
            <a:avLst>
              <a:gd name="adj" fmla="val 2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F4E79"/>
                </a:solidFill>
              </a:defRPr>
            </a:pPr>
            <a:r>
              <a:rPr sz="1725" b="1">
                <a:solidFill>
                  <a:srgbClr val="1F4E79"/>
                </a:solidFill>
              </a:rPr>
              <a:t>Sản phẩm thực hiện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725" b="1">
                <a:solidFill>
                  <a:srgbClr val="1F4E79"/>
                </a:solidFill>
              </a:defRPr>
            </a:pPr>
            <a:r>
              <a:rPr sz="1725" b="1">
                <a:solidFill>
                  <a:srgbClr val="1F4E79"/>
                </a:solidFill>
              </a:rPr>
              <a:t>Báo cáo LaTeX</a:t>
            </a:r>
          </a:p>
          <a:p xmlns:a="http://schemas.openxmlformats.org/drawingml/2006/main">
            <a:pPr algn="ctr">
              <a:defRPr sz="1725" b="1">
                <a:solidFill>
                  <a:srgbClr val="1F4E79"/>
                </a:solidFill>
              </a:defRPr>
            </a:pPr>
            <a:r>
              <a:rPr sz="1725" b="1">
                <a:solidFill>
                  <a:srgbClr val="1F4E79"/>
                </a:solidFill>
              </a:rPr>
              <a:t>Slide thuyết trình</a:t>
            </a:r>
          </a:p>
          <a:p xmlns:a="http://schemas.openxmlformats.org/drawingml/2006/main">
            <a:pPr algn="ctr">
              <a:defRPr sz="1725" b="1">
                <a:solidFill>
                  <a:srgbClr val="1F4E79"/>
                </a:solidFill>
              </a:defRPr>
            </a:pPr>
            <a:r>
              <a:rPr sz="1725" b="1">
                <a:solidFill>
                  <a:srgbClr val="1F4E79"/>
                </a:solidFill>
              </a:rPr>
              <a:t>Cloud Security Demo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765ED5-4C63-40D7-9D98-DF5CEA433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143375"/>
            <a:ext cx="27622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324D"/>
                </a:solidFill>
              </a:defRPr>
            </a:pPr>
            <a:r>
              <a:rPr sz="1425" b="1">
                <a:solidFill>
                  <a:srgbClr val="17324D"/>
                </a:solidFill>
              </a:rPr>
              <a:t>Tech stack: Flask + PostgreSQL + MinIO + Docker Compose</a:t>
            </a:r>
          </a:p>
        </p:txBody>
      </p:sp>
    </p:spTree>
    <p:extLst>
      <p:ext uri="{BB962C8B-B14F-4D97-AF65-F5344CB8AC3E}">
        <p14:creationId xmlns:p14="http://schemas.microsoft.com/office/powerpoint/2010/main" val="27061976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2391DE-82B1-4B8C-A9CA-D25C0F4B7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1F4E7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5CACBC-9372-411D-818D-EAD77E8FA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5250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Mục tiêu, phạm vi và sản phẩm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87C80F-39F2-4BB7-BACA-3DD5DE51A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14300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9EAF7"/>
                </a:solidFill>
              </a:defRPr>
            </a:pPr>
            <a:r>
              <a:rPr sz="1350" b="1">
                <a:solidFill>
                  <a:srgbClr val="D9EAF7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CA0CA6-90D1-4E93-A428-32048BAC8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9625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B7A"/>
                </a:solidFill>
              </a:defRPr>
            </a:pPr>
            <a:r>
              <a:rPr sz="1650" b="0">
                <a:solidFill>
                  <a:srgbClr val="5F6B7A"/>
                </a:solidFill>
              </a:rPr>
              <a:t>Đề tài không chỉ tổng hợp lý thuyết, mà có môi trường demo để quan sát lỗi cấu hình và cách khắc phục.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4517C2-5C62-4BC7-8CCD-99DDE3A8A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04950"/>
            <a:ext cx="2857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EF4FA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F4E79"/>
                </a:solidFill>
              </a:defRPr>
            </a:pPr>
            <a:r>
              <a:rPr sz="1800" b="1">
                <a:solidFill>
                  <a:srgbClr val="1F4E79"/>
                </a:solidFill>
              </a:rPr>
              <a:t>1</a:t>
            </a:r>
          </a:p>
          <a:p xmlns:a="http://schemas.openxmlformats.org/drawingml/2006/main">
            <a:pPr algn="ctr">
              <a:defRPr sz="1800" b="1">
                <a:solidFill>
                  <a:srgbClr val="1F4E79"/>
                </a:solidFill>
              </a:defRPr>
            </a:pPr>
            <a:r>
              <a:rPr sz="1800" b="1">
                <a:solidFill>
                  <a:srgbClr val="1F4E79"/>
                </a:solidFill>
              </a:rPr>
              <a:t>Nền tảng cloud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ECBA77-6CA1-4712-BBA1-7383DFB07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19375"/>
            <a:ext cx="2667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324D"/>
                </a:solidFill>
              </a:defRPr>
            </a:pPr>
            <a:r>
              <a:rPr sz="1500" b="0">
                <a:solidFill>
                  <a:srgbClr val="17324D"/>
                </a:solidFill>
              </a:rPr>
              <a:t>• IaaS, PaaS, SaaS</a:t>
            </a:r>
          </a:p>
          <a:p xmlns:a="http://schemas.openxmlformats.org/drawingml/2006/main">
            <a:pPr algn="l">
              <a:defRPr sz="1500" b="0">
                <a:solidFill>
                  <a:srgbClr val="17324D"/>
                </a:solidFill>
              </a:defRPr>
            </a:pPr>
            <a:r>
              <a:rPr sz="1500" b="0">
                <a:solidFill>
                  <a:srgbClr val="17324D"/>
                </a:solidFill>
              </a:rPr>
              <a:t>• Public, Private, Hybrid</a:t>
            </a:r>
          </a:p>
          <a:p xmlns:a="http://schemas.openxmlformats.org/drawingml/2006/main">
            <a:pPr algn="l">
              <a:defRPr sz="1500" b="0">
                <a:solidFill>
                  <a:srgbClr val="17324D"/>
                </a:solidFill>
              </a:defRPr>
            </a:pPr>
            <a:r>
              <a:rPr sz="1500" b="0">
                <a:solidFill>
                  <a:srgbClr val="17324D"/>
                </a:solidFill>
              </a:rPr>
              <a:t>• Shared Responsibility Model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AC8F2D-6911-4580-ADB3-C32815646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504950"/>
            <a:ext cx="2857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2F0"/>
          </a:solidFill>
          <a:ln xmlns:a="http://schemas.openxmlformats.org/drawingml/2006/main" w="9525">
            <a:solidFill>
              <a:srgbClr val="B3261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3261E"/>
                </a:solidFill>
              </a:defRPr>
            </a:pPr>
            <a:r>
              <a:rPr sz="1800" b="1">
                <a:solidFill>
                  <a:srgbClr val="B3261E"/>
                </a:solidFill>
              </a:rPr>
              <a:t>2</a:t>
            </a:r>
          </a:p>
          <a:p xmlns:a="http://schemas.openxmlformats.org/drawingml/2006/main">
            <a:pPr algn="ctr">
              <a:defRPr sz="1800" b="1">
                <a:solidFill>
                  <a:srgbClr val="B3261E"/>
                </a:solidFill>
              </a:defRPr>
            </a:pPr>
            <a:r>
              <a:rPr sz="1800" b="1">
                <a:solidFill>
                  <a:srgbClr val="B3261E"/>
                </a:solidFill>
              </a:rPr>
              <a:t>Rủi ro bảo mật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68B880-C72E-4B5D-ADB1-B904B109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619375"/>
            <a:ext cx="2667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324D"/>
                </a:solidFill>
              </a:defRPr>
            </a:pPr>
            <a:r>
              <a:rPr sz="1500" b="0">
                <a:solidFill>
                  <a:srgbClr val="17324D"/>
                </a:solidFill>
              </a:rPr>
              <a:t>• Public Storage Bucket</a:t>
            </a:r>
          </a:p>
          <a:p xmlns:a="http://schemas.openxmlformats.org/drawingml/2006/main">
            <a:pPr algn="l">
              <a:defRPr sz="1500" b="0">
                <a:solidFill>
                  <a:srgbClr val="17324D"/>
                </a:solidFill>
              </a:defRPr>
            </a:pPr>
            <a:r>
              <a:rPr sz="1500" b="0">
                <a:solidFill>
                  <a:srgbClr val="17324D"/>
                </a:solidFill>
              </a:rPr>
              <a:t>• IAM Misconfiguration</a:t>
            </a:r>
          </a:p>
          <a:p xmlns:a="http://schemas.openxmlformats.org/drawingml/2006/main">
            <a:pPr algn="l">
              <a:defRPr sz="1500" b="0">
                <a:solidFill>
                  <a:srgbClr val="17324D"/>
                </a:solidFill>
              </a:defRPr>
            </a:pPr>
            <a:r>
              <a:rPr sz="1500" b="0">
                <a:solidFill>
                  <a:srgbClr val="17324D"/>
                </a:solidFill>
              </a:rPr>
              <a:t>• Credential Leakage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FD9C8D-CB5A-4708-A08D-179C439A5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504950"/>
            <a:ext cx="2857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1FAF3"/>
          </a:solidFill>
          <a:ln xmlns:a="http://schemas.openxmlformats.org/drawingml/2006/main" w="9525">
            <a:solidFill>
              <a:srgbClr val="2E7D3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E7D32"/>
                </a:solidFill>
              </a:defRPr>
            </a:pPr>
            <a:r>
              <a:rPr sz="1800" b="1">
                <a:solidFill>
                  <a:srgbClr val="2E7D32"/>
                </a:solidFill>
              </a:rPr>
              <a:t>3</a:t>
            </a:r>
          </a:p>
          <a:p xmlns:a="http://schemas.openxmlformats.org/drawingml/2006/main">
            <a:pPr algn="ctr">
              <a:defRPr sz="1800" b="1">
                <a:solidFill>
                  <a:srgbClr val="2E7D32"/>
                </a:solidFill>
              </a:defRPr>
            </a:pPr>
            <a:r>
              <a:rPr sz="1800" b="1">
                <a:solidFill>
                  <a:srgbClr val="2E7D32"/>
                </a:solidFill>
              </a:rPr>
              <a:t>Demo &amp; đánh giá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67F0BD-781F-40F2-B104-9AB10C8A8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2619375"/>
            <a:ext cx="2667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324D"/>
                </a:solidFill>
              </a:defRPr>
            </a:pPr>
            <a:r>
              <a:rPr sz="1500" b="0">
                <a:solidFill>
                  <a:srgbClr val="17324D"/>
                </a:solidFill>
              </a:rPr>
              <a:t>• Docker Compose lab</a:t>
            </a:r>
          </a:p>
          <a:p xmlns:a="http://schemas.openxmlformats.org/drawingml/2006/main">
            <a:pPr algn="l">
              <a:defRPr sz="1500" b="0">
                <a:solidFill>
                  <a:srgbClr val="17324D"/>
                </a:solidFill>
              </a:defRPr>
            </a:pPr>
            <a:r>
              <a:rPr sz="1500" b="0">
                <a:solidFill>
                  <a:srgbClr val="17324D"/>
                </a:solidFill>
              </a:rPr>
              <a:t>• Ảnh before/after</a:t>
            </a:r>
          </a:p>
          <a:p xmlns:a="http://schemas.openxmlformats.org/drawingml/2006/main">
            <a:pPr algn="l">
              <a:defRPr sz="1500" b="0">
                <a:solidFill>
                  <a:srgbClr val="17324D"/>
                </a:solidFill>
              </a:defRPr>
            </a:pPr>
            <a:r>
              <a:rPr sz="1500" b="0">
                <a:solidFill>
                  <a:srgbClr val="17324D"/>
                </a:solidFill>
              </a:rPr>
              <a:t>• Bảng so sánh kết quả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F8FEA2-9FD1-4981-9887-9F7A718FB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810125"/>
            <a:ext cx="90487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324D"/>
                </a:solidFill>
              </a:defRPr>
            </a:pPr>
            <a:r>
              <a:rPr sz="1650" b="1">
                <a:solidFill>
                  <a:srgbClr val="17324D"/>
                </a:solidFill>
              </a:rPr>
              <a:t>Output cuối cùng: báo cáo LaTeX, slide PowerPoint, ảnh minh chứng và flow live demo cho buổi thuyết trình.</a:t>
            </a:r>
          </a:p>
        </p:txBody>
      </p:sp>
    </p:spTree>
    <p:extLst>
      <p:ext uri="{BB962C8B-B14F-4D97-AF65-F5344CB8AC3E}">
        <p14:creationId xmlns:p14="http://schemas.microsoft.com/office/powerpoint/2010/main" val="84633688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0CDE730-A8CF-4111-BCD6-3039ECD17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1F4E7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E26F38-A985-413E-8AD6-ADD673BA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5250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Kiến trúc hệ thống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48CAFA-5926-4717-AD84-8EF3C44D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14300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9EAF7"/>
                </a:solidFill>
              </a:defRPr>
            </a:pPr>
            <a:r>
              <a:rPr sz="1350" b="1">
                <a:solidFill>
                  <a:srgbClr val="D9EAF7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1BB2F9-F82F-46F6-A130-639228CD3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4295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A"/>
                </a:solidFill>
              </a:defRPr>
            </a:pPr>
            <a:r>
              <a:rPr sz="1500" b="0">
                <a:solidFill>
                  <a:srgbClr val="5F6B7A"/>
                </a:solidFill>
              </a:rPr>
              <a:t>Mô hình cây phân tách rõ lớp truy cập, lớp ứng dụng và lớp dữ liệu/secret.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4F81AB-26EB-4717-9036-1AFD108D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047750"/>
            <a:ext cx="3619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Cloud Security Demo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378FD5-C783-4AE6-A5A6-D02ABDE6A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38300"/>
            <a:ext cx="-4000500" cy="552450"/>
          </a:xfrm>
          <a:prstGeom xmlns:a="http://schemas.openxmlformats.org/drawingml/2006/main" prst="line">
            <a:avLst/>
          </a:prstGeom>
          <a:ln xmlns:a="http://schemas.openxmlformats.org/drawingml/2006/main" w="23813">
            <a:solidFill>
              <a:srgbClr val="2F3A4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46A249-675D-4E01-8430-E87A892DF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38300"/>
            <a:ext cx="0" cy="552450"/>
          </a:xfrm>
          <a:prstGeom xmlns:a="http://schemas.openxmlformats.org/drawingml/2006/main" prst="line">
            <a:avLst/>
          </a:prstGeom>
          <a:ln xmlns:a="http://schemas.openxmlformats.org/drawingml/2006/main" w="23813">
            <a:solidFill>
              <a:srgbClr val="2F3A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246995-88A6-4059-BC10-DB30B6219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38300"/>
            <a:ext cx="4000500" cy="552450"/>
          </a:xfrm>
          <a:prstGeom xmlns:a="http://schemas.openxmlformats.org/drawingml/2006/main" prst="line">
            <a:avLst/>
          </a:prstGeom>
          <a:ln xmlns:a="http://schemas.openxmlformats.org/drawingml/2006/main" w="23813">
            <a:solidFill>
              <a:srgbClr val="2F3A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D8FCB5-4661-444B-9474-623F88B0A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26670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EF4FA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F4E79"/>
                </a:solidFill>
              </a:defRPr>
            </a:pPr>
            <a:r>
              <a:rPr sz="1575" b="1">
                <a:solidFill>
                  <a:srgbClr val="1F4E79"/>
                </a:solidFill>
              </a:rPr>
              <a:t>Access Layer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CAB9BE-4FA0-4EF4-A998-940ADC25B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190750"/>
            <a:ext cx="26670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EF4FA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F4E79"/>
                </a:solidFill>
              </a:defRPr>
            </a:pPr>
            <a:r>
              <a:rPr sz="1575" b="1">
                <a:solidFill>
                  <a:srgbClr val="1F4E79"/>
                </a:solidFill>
              </a:rPr>
              <a:t>Application Layer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7D014A-1FEC-4C7D-ABA8-5587C4A20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190750"/>
            <a:ext cx="26670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EF4FA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F4E79"/>
                </a:solidFill>
              </a:defRPr>
            </a:pPr>
            <a:r>
              <a:rPr sz="1575" b="1">
                <a:solidFill>
                  <a:srgbClr val="1F4E79"/>
                </a:solidFill>
              </a:rPr>
              <a:t>Data &amp; Secret Layer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F42CF6-5DDC-4122-AA83-BF401A3AA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705100"/>
            <a:ext cx="-666750" cy="581025"/>
          </a:xfrm>
          <a:prstGeom xmlns:a="http://schemas.openxmlformats.org/drawingml/2006/main" prst="line">
            <a:avLst/>
          </a:prstGeom>
          <a:ln xmlns:a="http://schemas.openxmlformats.org/drawingml/2006/main" w="23813">
            <a:solidFill>
              <a:srgbClr val="2F3A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C7013B-C171-40A6-A1BB-D1C48EE3C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705100"/>
            <a:ext cx="666750" cy="581025"/>
          </a:xfrm>
          <a:prstGeom xmlns:a="http://schemas.openxmlformats.org/drawingml/2006/main" prst="line">
            <a:avLst/>
          </a:prstGeom>
          <a:ln xmlns:a="http://schemas.openxmlformats.org/drawingml/2006/main" w="23813">
            <a:solidFill>
              <a:srgbClr val="2F3A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86F439-2BBA-4CF2-81E3-72CE47DCF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05100"/>
            <a:ext cx="0" cy="581025"/>
          </a:xfrm>
          <a:prstGeom xmlns:a="http://schemas.openxmlformats.org/drawingml/2006/main" prst="line">
            <a:avLst/>
          </a:prstGeom>
          <a:ln xmlns:a="http://schemas.openxmlformats.org/drawingml/2006/main" w="23813">
            <a:solidFill>
              <a:srgbClr val="2F3A4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6A2C16-F7FF-4CB0-A593-DFD5999FF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705100"/>
            <a:ext cx="-1047750" cy="581025"/>
          </a:xfrm>
          <a:prstGeom xmlns:a="http://schemas.openxmlformats.org/drawingml/2006/main" prst="line">
            <a:avLst/>
          </a:prstGeom>
          <a:ln xmlns:a="http://schemas.openxmlformats.org/drawingml/2006/main" w="23813">
            <a:solidFill>
              <a:srgbClr val="2F3A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185885-E396-46DD-9CDC-8809B7A11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705100"/>
            <a:ext cx="0" cy="581025"/>
          </a:xfrm>
          <a:prstGeom xmlns:a="http://schemas.openxmlformats.org/drawingml/2006/main" prst="line">
            <a:avLst/>
          </a:prstGeom>
          <a:ln xmlns:a="http://schemas.openxmlformats.org/drawingml/2006/main" w="23813">
            <a:solidFill>
              <a:srgbClr val="2F3A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FBBFA9-9807-4467-9704-14601814A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705100"/>
            <a:ext cx="1047750" cy="581025"/>
          </a:xfrm>
          <a:prstGeom xmlns:a="http://schemas.openxmlformats.org/drawingml/2006/main" prst="line">
            <a:avLst/>
          </a:prstGeom>
          <a:ln xmlns:a="http://schemas.openxmlformats.org/drawingml/2006/main" w="23813">
            <a:solidFill>
              <a:srgbClr val="2F3A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A79CED-EE42-4D0B-9444-E5573B7ED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147637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C5D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7324D"/>
                </a:solidFill>
              </a:defRPr>
            </a:pPr>
            <a:r>
              <a:rPr sz="1275" b="1">
                <a:solidFill>
                  <a:srgbClr val="17324D"/>
                </a:solidFill>
              </a:rPr>
              <a:t>User</a:t>
            </a:r>
          </a:p>
          <a:p xmlns:a="http://schemas.openxmlformats.org/drawingml/2006/main">
            <a:pPr algn="ctr">
              <a:defRPr sz="1275" b="1">
                <a:solidFill>
                  <a:srgbClr val="17324D"/>
                </a:solidFill>
              </a:defRPr>
            </a:pPr>
            <a:r>
              <a:rPr sz="1275" b="1">
                <a:solidFill>
                  <a:srgbClr val="17324D"/>
                </a:solidFill>
              </a:rPr>
              <a:t>Browser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EC2722-3E43-4D6B-B83B-AF10BA357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286125"/>
            <a:ext cx="147637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2F0"/>
          </a:solidFill>
          <a:ln xmlns:a="http://schemas.openxmlformats.org/drawingml/2006/main" w="9525">
            <a:solidFill>
              <a:srgbClr val="B3261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3261E"/>
                </a:solidFill>
              </a:defRPr>
            </a:pPr>
            <a:r>
              <a:rPr sz="1275" b="1">
                <a:solidFill>
                  <a:srgbClr val="B3261E"/>
                </a:solidFill>
              </a:rPr>
              <a:t>Attacker</a:t>
            </a:r>
          </a:p>
          <a:p xmlns:a="http://schemas.openxmlformats.org/drawingml/2006/main">
            <a:pPr algn="ctr">
              <a:defRPr sz="1275" b="1">
                <a:solidFill>
                  <a:srgbClr val="B3261E"/>
                </a:solidFill>
              </a:defRPr>
            </a:pPr>
            <a:r>
              <a:rPr sz="1275" b="1">
                <a:solidFill>
                  <a:srgbClr val="B3261E"/>
                </a:solidFill>
              </a:rPr>
              <a:t>Public URL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FD2769-A1AA-49A8-AA60-BBE0AD1D0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286125"/>
            <a:ext cx="24765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C5D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7324D"/>
                </a:solidFill>
              </a:defRPr>
            </a:pPr>
            <a:r>
              <a:rPr sz="1275" b="1">
                <a:solidFill>
                  <a:srgbClr val="17324D"/>
                </a:solidFill>
              </a:rPr>
              <a:t>Flask Web App</a:t>
            </a:r>
          </a:p>
          <a:p xmlns:a="http://schemas.openxmlformats.org/drawingml/2006/main">
            <a:pPr algn="ctr">
              <a:defRPr sz="1275" b="1">
                <a:solidFill>
                  <a:srgbClr val="17324D"/>
                </a:solidFill>
              </a:defRPr>
            </a:pPr>
            <a:r>
              <a:rPr sz="1275" b="1">
                <a:solidFill>
                  <a:srgbClr val="17324D"/>
                </a:solidFill>
              </a:rPr>
              <a:t>localhost:5000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F70DA3-8E77-4A59-822C-618342E19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86125"/>
            <a:ext cx="14287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C5D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324D"/>
                </a:solidFill>
              </a:defRPr>
            </a:pPr>
            <a:r>
              <a:rPr sz="1200" b="1">
                <a:solidFill>
                  <a:srgbClr val="17324D"/>
                </a:solidFill>
              </a:rPr>
              <a:t>PostgreSQL</a:t>
            </a:r>
          </a:p>
          <a:p xmlns:a="http://schemas.openxmlformats.org/drawingml/2006/main">
            <a:pPr algn="ctr">
              <a:defRPr sz="1200" b="1">
                <a:solidFill>
                  <a:srgbClr val="17324D"/>
                </a:solidFill>
              </a:defRPr>
            </a:pPr>
            <a:r>
              <a:rPr sz="1200" b="1">
                <a:solidFill>
                  <a:srgbClr val="17324D"/>
                </a:solidFill>
              </a:rPr>
              <a:t>Customer data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579D5A-71F8-486A-A603-0C8A87F6E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86125"/>
            <a:ext cx="14287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2F0"/>
          </a:solidFill>
          <a:ln xmlns:a="http://schemas.openxmlformats.org/drawingml/2006/main" w="9525">
            <a:solidFill>
              <a:srgbClr val="B3261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B3261E"/>
                </a:solidFill>
              </a:defRPr>
            </a:pPr>
            <a:r>
              <a:rPr sz="1200" b="1">
                <a:solidFill>
                  <a:srgbClr val="B3261E"/>
                </a:solidFill>
              </a:rPr>
              <a:t>MinIO</a:t>
            </a:r>
          </a:p>
          <a:p xmlns:a="http://schemas.openxmlformats.org/drawingml/2006/main">
            <a:pPr algn="ctr">
              <a:defRPr sz="1200" b="1">
                <a:solidFill>
                  <a:srgbClr val="B3261E"/>
                </a:solidFill>
              </a:defRPr>
            </a:pPr>
            <a:r>
              <a:rPr sz="1200" b="1">
                <a:solidFill>
                  <a:srgbClr val="B3261E"/>
                </a:solidFill>
              </a:rPr>
              <a:t>Object storage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D6FF42-951E-4507-B034-2C9C82BFB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86125"/>
            <a:ext cx="8572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1FAF3"/>
          </a:solidFill>
          <a:ln xmlns:a="http://schemas.openxmlformats.org/drawingml/2006/main" w="9525">
            <a:solidFill>
              <a:srgbClr val="2E7D3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E7D32"/>
                </a:solidFill>
              </a:defRPr>
            </a:pPr>
            <a:r>
              <a:rPr sz="1125" b="1">
                <a:solidFill>
                  <a:srgbClr val="2E7D32"/>
                </a:solidFill>
              </a:rPr>
              <a:t>Secrets</a:t>
            </a:r>
          </a:p>
          <a:p xmlns:a="http://schemas.openxmlformats.org/drawingml/2006/main">
            <a:pPr algn="ctr">
              <a:defRPr sz="1125" b="1">
                <a:solidFill>
                  <a:srgbClr val="2E7D32"/>
                </a:solidFill>
              </a:defRPr>
            </a:pPr>
            <a:r>
              <a:rPr sz="1125" b="1">
                <a:solidFill>
                  <a:srgbClr val="2E7D32"/>
                </a:solidFill>
              </a:rPr>
              <a:t>Fernet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9AB859-EE35-422E-8B4F-A9EA06ADE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14775"/>
            <a:ext cx="0" cy="638175"/>
          </a:xfrm>
          <a:prstGeom xmlns:a="http://schemas.openxmlformats.org/drawingml/2006/main" prst="line">
            <a:avLst/>
          </a:prstGeom>
          <a:ln xmlns:a="http://schemas.openxmlformats.org/drawingml/2006/main" w="23813">
            <a:solidFill>
              <a:srgbClr val="2F3A4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3A925C-7CB2-4EA7-8E83-A0C233CD0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914775"/>
            <a:ext cx="0" cy="638175"/>
          </a:xfrm>
          <a:prstGeom xmlns:a="http://schemas.openxmlformats.org/drawingml/2006/main" prst="line">
            <a:avLst/>
          </a:prstGeom>
          <a:ln xmlns:a="http://schemas.openxmlformats.org/drawingml/2006/main" w="23813">
            <a:solidFill>
              <a:srgbClr val="2F3A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EE67141-CA4F-4E41-80F1-682FF1B92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14775"/>
            <a:ext cx="0" cy="638175"/>
          </a:xfrm>
          <a:prstGeom xmlns:a="http://schemas.openxmlformats.org/drawingml/2006/main" prst="line">
            <a:avLst/>
          </a:prstGeom>
          <a:ln xmlns:a="http://schemas.openxmlformats.org/drawingml/2006/main" w="23813">
            <a:solidFill>
              <a:srgbClr val="2F3A4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94E33A4-533C-4BD5-9A90-90AF04033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914775"/>
            <a:ext cx="0" cy="638175"/>
          </a:xfrm>
          <a:prstGeom xmlns:a="http://schemas.openxmlformats.org/drawingml/2006/main" prst="line">
            <a:avLst/>
          </a:prstGeom>
          <a:ln xmlns:a="http://schemas.openxmlformats.org/drawingml/2006/main" w="23813">
            <a:solidFill>
              <a:srgbClr val="2F3A4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7849BD0-BB50-497B-819F-7F8A646E9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3914775"/>
            <a:ext cx="0" cy="638175"/>
          </a:xfrm>
          <a:prstGeom xmlns:a="http://schemas.openxmlformats.org/drawingml/2006/main" prst="line">
            <a:avLst/>
          </a:prstGeom>
          <a:ln xmlns:a="http://schemas.openxmlformats.org/drawingml/2006/main" w="23813">
            <a:solidFill>
              <a:srgbClr val="2F3A4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767D1E-9BB7-4A45-88AF-ACE0EE492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72875" y="3914775"/>
            <a:ext cx="0" cy="638175"/>
          </a:xfrm>
          <a:prstGeom xmlns:a="http://schemas.openxmlformats.org/drawingml/2006/main" prst="line">
            <a:avLst/>
          </a:prstGeom>
          <a:ln xmlns:a="http://schemas.openxmlformats.org/drawingml/2006/main" w="23813">
            <a:solidFill>
              <a:srgbClr val="2F3A4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E2262CC-38DA-4549-BAD9-E93007412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52950"/>
            <a:ext cx="14763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9525">
            <a:solidFill>
              <a:srgbClr val="C8D3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7324D"/>
                </a:solidFill>
              </a:defRPr>
            </a:pPr>
            <a:r>
              <a:rPr sz="1200" b="0">
                <a:solidFill>
                  <a:srgbClr val="17324D"/>
                </a:solidFill>
              </a:rPr>
              <a:t>Normal</a:t>
            </a:r>
          </a:p>
          <a:p xmlns:a="http://schemas.openxmlformats.org/drawingml/2006/main">
            <a:pPr algn="ctr">
              <a:defRPr sz="1200" b="0">
                <a:solidFill>
                  <a:srgbClr val="17324D"/>
                </a:solidFill>
              </a:defRPr>
            </a:pPr>
            <a:r>
              <a:rPr sz="1200" b="0">
                <a:solidFill>
                  <a:srgbClr val="17324D"/>
                </a:solidFill>
              </a:rPr>
              <a:t>request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B987739-1A6B-4E88-AA4B-B3A7AC4F6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552950"/>
            <a:ext cx="14763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2F0"/>
          </a:solidFill>
          <a:ln xmlns:a="http://schemas.openxmlformats.org/drawingml/2006/main" w="9525">
            <a:solidFill>
              <a:srgbClr val="B3261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B3261E"/>
                </a:solidFill>
              </a:defRPr>
            </a:pPr>
            <a:r>
              <a:rPr sz="1200" b="1">
                <a:solidFill>
                  <a:srgbClr val="B3261E"/>
                </a:solidFill>
              </a:rPr>
              <a:t>Risk</a:t>
            </a:r>
          </a:p>
          <a:p xmlns:a="http://schemas.openxmlformats.org/drawingml/2006/main">
            <a:pPr algn="ctr">
              <a:defRPr sz="1200" b="1">
                <a:solidFill>
                  <a:srgbClr val="B3261E"/>
                </a:solidFill>
              </a:defRPr>
            </a:pPr>
            <a:r>
              <a:rPr sz="1200" b="1">
                <a:solidFill>
                  <a:srgbClr val="B3261E"/>
                </a:solidFill>
              </a:rPr>
              <a:t>public object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2EF2F5F-F170-438E-9CE8-1DB2F6921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552950"/>
            <a:ext cx="2476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9525">
            <a:solidFill>
              <a:srgbClr val="C8D3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324D"/>
                </a:solidFill>
              </a:defRPr>
            </a:pPr>
            <a:r>
              <a:rPr sz="1200" b="1">
                <a:solidFill>
                  <a:srgbClr val="17324D"/>
                </a:solidFill>
              </a:rPr>
              <a:t>Mode</a:t>
            </a:r>
          </a:p>
          <a:p xmlns:a="http://schemas.openxmlformats.org/drawingml/2006/main">
            <a:pPr algn="ctr">
              <a:defRPr sz="1200" b="1">
                <a:solidFill>
                  <a:srgbClr val="17324D"/>
                </a:solidFill>
              </a:defRPr>
            </a:pPr>
            <a:r>
              <a:rPr sz="1200" b="1">
                <a:solidFill>
                  <a:srgbClr val="17324D"/>
                </a:solidFill>
              </a:rPr>
              <a:t>vulnerable / fixed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71DD770-9834-427B-805C-D465C1E09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552950"/>
            <a:ext cx="1428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9525">
            <a:solidFill>
              <a:srgbClr val="C8D3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324D"/>
                </a:solidFill>
              </a:defRPr>
            </a:pPr>
            <a:r>
              <a:rPr sz="1125" b="0">
                <a:solidFill>
                  <a:srgbClr val="17324D"/>
                </a:solidFill>
              </a:rPr>
              <a:t>Asset</a:t>
            </a:r>
          </a:p>
          <a:p xmlns:a="http://schemas.openxmlformats.org/drawingml/2006/main">
            <a:pPr algn="ctr">
              <a:defRPr sz="1125" b="0">
                <a:solidFill>
                  <a:srgbClr val="17324D"/>
                </a:solidFill>
              </a:defRPr>
            </a:pPr>
            <a:r>
              <a:rPr sz="1125" b="0">
                <a:solidFill>
                  <a:srgbClr val="17324D"/>
                </a:solidFill>
              </a:rPr>
              <a:t>PII sample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F2FD7C7-96F5-4A29-B9A8-3DD75A377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552950"/>
            <a:ext cx="1428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2F0"/>
          </a:solidFill>
          <a:ln xmlns:a="http://schemas.openxmlformats.org/drawingml/2006/main" w="9525">
            <a:solidFill>
              <a:srgbClr val="B3261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B3261E"/>
                </a:solidFill>
              </a:defRPr>
            </a:pPr>
            <a:r>
              <a:rPr sz="1125" b="1">
                <a:solidFill>
                  <a:srgbClr val="B3261E"/>
                </a:solidFill>
              </a:rPr>
              <a:t>Risk</a:t>
            </a:r>
          </a:p>
          <a:p xmlns:a="http://schemas.openxmlformats.org/drawingml/2006/main">
            <a:pPr algn="ctr">
              <a:defRPr sz="1125" b="1">
                <a:solidFill>
                  <a:srgbClr val="B3261E"/>
                </a:solidFill>
              </a:defRPr>
            </a:pPr>
            <a:r>
              <a:rPr sz="1125" b="1">
                <a:solidFill>
                  <a:srgbClr val="B3261E"/>
                </a:solidFill>
              </a:rPr>
              <a:t>bucket policy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E1C4411-392C-45DA-856D-8A5FCE019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552950"/>
            <a:ext cx="857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1FAF3"/>
          </a:solidFill>
          <a:ln xmlns:a="http://schemas.openxmlformats.org/drawingml/2006/main" w="9525">
            <a:solidFill>
              <a:srgbClr val="2E7D3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E7D32"/>
                </a:solidFill>
              </a:defRPr>
            </a:pPr>
            <a:r>
              <a:rPr sz="1050" b="1">
                <a:solidFill>
                  <a:srgbClr val="2E7D32"/>
                </a:solidFill>
              </a:rPr>
              <a:t>Control</a:t>
            </a:r>
          </a:p>
          <a:p xmlns:a="http://schemas.openxmlformats.org/drawingml/2006/main">
            <a:pPr algn="ctr">
              <a:defRPr sz="1050" b="1">
                <a:solidFill>
                  <a:srgbClr val="2E7D32"/>
                </a:solidFill>
              </a:defRPr>
            </a:pPr>
            <a:r>
              <a:rPr sz="1050" b="1">
                <a:solidFill>
                  <a:srgbClr val="2E7D32"/>
                </a:solidFill>
              </a:rPr>
              <a:t>encrypted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406308F-002D-4797-95E7-B7CE78414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829300"/>
            <a:ext cx="8953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324D"/>
                </a:solidFill>
              </a:defRPr>
            </a:pPr>
            <a:r>
              <a:rPr sz="1500" b="1">
                <a:solidFill>
                  <a:srgbClr val="17324D"/>
                </a:solidFill>
              </a:rPr>
              <a:t>Ba điểm demo chính: Public Bucket | IAM Misconfiguration | Credential Leakage</a:t>
            </a:r>
          </a:p>
        </p:txBody>
      </p:sp>
    </p:spTree>
    <p:extLst>
      <p:ext uri="{BB962C8B-B14F-4D97-AF65-F5344CB8AC3E}">
        <p14:creationId xmlns:p14="http://schemas.microsoft.com/office/powerpoint/2010/main" val="118938567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414160B-4F11-4940-A3AF-EBD95CD45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1F4E7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1332DD-85A2-44A9-A2D2-C66066A3E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5250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Môi trường thực nghiệm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01F6F0-9E93-4917-9A86-86E2A17DD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14300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9EAF7"/>
                </a:solidFill>
              </a:defRPr>
            </a:pPr>
            <a:r>
              <a:rPr sz="1350" b="1">
                <a:solidFill>
                  <a:srgbClr val="D9EAF7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424D85-345F-4E97-9AAD-E5A1476FC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09625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324D"/>
                </a:solidFill>
              </a:defRPr>
            </a:pPr>
            <a:r>
              <a:rPr sz="1650" b="0">
                <a:solidFill>
                  <a:srgbClr val="17324D"/>
                </a:solidFill>
              </a:rPr>
              <a:t>Docker Compose khởi chạy 4 service: web, postgres, minio và minio-init.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508a928b334f5e"/>
          <a:stretch xmlns:a="http://schemas.openxmlformats.org/drawingml/2006/main"/>
        </p:blipFill>
        <p:spPr>
          <a:xfrm xmlns:a="http://schemas.openxmlformats.org/drawingml/2006/main">
            <a:off x="1597471" y="1285875"/>
            <a:ext cx="7949307" cy="4095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968561-03BF-4CF8-B3BD-2AF1A31EF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5476875"/>
            <a:ext cx="2095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F4E79"/>
                </a:solidFill>
              </a:defRPr>
            </a:pPr>
            <a:r>
              <a:rPr sz="1500" b="1">
                <a:solidFill>
                  <a:srgbClr val="1F4E79"/>
                </a:solidFill>
              </a:rPr>
              <a:t>Bằng chứng môi trường</a:t>
            </a:r>
          </a:p>
          <a:p xmlns:a="http://schemas.openxmlformats.org/drawingml/2006/main">
            <a:pPr algn="ctr">
              <a:defRPr sz="1500" b="1">
                <a:solidFill>
                  <a:srgbClr val="1F4E79"/>
                </a:solidFill>
              </a:defRPr>
            </a:pPr>
            <a:r>
              <a:rPr sz="1500" b="1">
                <a:solidFill>
                  <a:srgbClr val="1F4E79"/>
                </a:solidFill>
              </a:rPr>
              <a:t>đã chạy thành công</a:t>
            </a:r>
          </a:p>
        </p:txBody>
      </p:sp>
    </p:spTree>
    <p:extLst>
      <p:ext uri="{BB962C8B-B14F-4D97-AF65-F5344CB8AC3E}">
        <p14:creationId xmlns:p14="http://schemas.microsoft.com/office/powerpoint/2010/main" val="203536105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B0C3871-57A0-4FFB-BA47-6C5BAE5A0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1F4E7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B5E0E8-DC3F-42A5-95E5-65B7FE872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5250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Tài sản cần bảo vệ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5E256E-2FD1-4252-805F-8A649F961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14300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9EAF7"/>
                </a:solidFill>
              </a:defRPr>
            </a:pPr>
            <a:r>
              <a:rPr sz="1350" b="1">
                <a:solidFill>
                  <a:srgbClr val="D9EAF7"/>
                </a:solidFill>
              </a:rPr>
              <a:t>05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97daa553c84899"/>
          <a:stretch xmlns:a="http://schemas.openxmlformats.org/drawingml/2006/main"/>
        </p:blipFill>
        <p:spPr>
          <a:xfrm xmlns:a="http://schemas.openxmlformats.org/drawingml/2006/main">
            <a:off x="666750" y="1409257"/>
            <a:ext cx="5143500" cy="2610736"/>
          </a:xfrm>
          <a:prstGeom xmlns:a="http://schemas.openxmlformats.org/drawingml/2006/main" prst="rect">
            <a:avLst/>
          </a:prstGeom>
        </p:spPr>
      </p:pic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99ec653eb64940"/>
          <a:stretch xmlns:a="http://schemas.openxmlformats.org/drawingml/2006/main"/>
        </p:blipFill>
        <p:spPr>
          <a:xfrm xmlns:a="http://schemas.openxmlformats.org/drawingml/2006/main">
            <a:off x="6381750" y="1413241"/>
            <a:ext cx="5143500" cy="2602767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503D79-B119-4A49-93F5-5F32D74D9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67250"/>
            <a:ext cx="38100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F4E79"/>
                </a:solidFill>
              </a:defRPr>
            </a:pPr>
            <a:r>
              <a:rPr sz="1500" b="1">
                <a:solidFill>
                  <a:srgbClr val="1F4E79"/>
                </a:solidFill>
              </a:rPr>
              <a:t>PostgreSQL</a:t>
            </a:r>
          </a:p>
          <a:p xmlns:a="http://schemas.openxmlformats.org/drawingml/2006/main">
            <a:pPr algn="ctr">
              <a:defRPr sz="1500" b="1">
                <a:solidFill>
                  <a:srgbClr val="1F4E79"/>
                </a:solidFill>
              </a:defRPr>
            </a:pPr>
            <a:r>
              <a:rPr sz="1500" b="1">
                <a:solidFill>
                  <a:srgbClr val="1F4E79"/>
                </a:solidFill>
              </a:rPr>
              <a:t>Dữ liệu khách hàng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624616-B82F-4DCB-8CB1-4986790A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667250"/>
            <a:ext cx="38100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2F0"/>
          </a:solidFill>
          <a:ln xmlns:a="http://schemas.openxmlformats.org/drawingml/2006/main" w="9525">
            <a:solidFill>
              <a:srgbClr val="B3261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3261E"/>
                </a:solidFill>
              </a:defRPr>
            </a:pPr>
            <a:r>
              <a:rPr sz="1500" b="1">
                <a:solidFill>
                  <a:srgbClr val="B3261E"/>
                </a:solidFill>
              </a:rPr>
              <a:t>MinIO</a:t>
            </a:r>
          </a:p>
          <a:p xmlns:a="http://schemas.openxmlformats.org/drawingml/2006/main">
            <a:pPr algn="ctr">
              <a:defRPr sz="1500" b="1">
                <a:solidFill>
                  <a:srgbClr val="B3261E"/>
                </a:solidFill>
              </a:defRPr>
            </a:pPr>
            <a:r>
              <a:rPr sz="1500" b="1">
                <a:solidFill>
                  <a:srgbClr val="B3261E"/>
                </a:solidFill>
              </a:rPr>
              <a:t>Object storage</a:t>
            </a:r>
          </a:p>
        </p:txBody>
      </p:sp>
    </p:spTree>
    <p:extLst>
      <p:ext uri="{BB962C8B-B14F-4D97-AF65-F5344CB8AC3E}">
        <p14:creationId xmlns:p14="http://schemas.microsoft.com/office/powerpoint/2010/main" val="66125521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DC9DA5-0A1D-4B97-871D-F3824B8E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1F4E7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6F19D5-E7D5-4F06-BC6C-2C773EF7C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5250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Phân tích rủi ro theo STRIDE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1A6439-1357-48EE-A14F-6BDAB822B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14300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9EAF7"/>
                </a:solidFill>
              </a:defRPr>
            </a:pPr>
            <a:r>
              <a:rPr sz="1350" b="1">
                <a:solidFill>
                  <a:srgbClr val="D9EAF7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B6DF7C-A9F7-470B-AB31-6CF3847E6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571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EF4FA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F4E79"/>
                </a:solidFill>
              </a:defRPr>
            </a:pPr>
            <a:r>
              <a:rPr sz="1800" b="1">
                <a:solidFill>
                  <a:srgbClr val="1F4E79"/>
                </a:solidFill>
              </a:rPr>
              <a:t>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FEF2E9-5A3C-4098-AF90-68FA3F901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1049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24D"/>
                </a:solidFill>
              </a:defRPr>
            </a:pPr>
            <a:r>
              <a:rPr sz="1650" b="1">
                <a:solidFill>
                  <a:srgbClr val="17324D"/>
                </a:solidFill>
              </a:rPr>
              <a:t>Spoofing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F4F54C-C7C4-4E6E-B356-C018C477D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104900"/>
            <a:ext cx="685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A"/>
                </a:solidFill>
              </a:defRPr>
            </a:pPr>
            <a:r>
              <a:rPr sz="1500" b="0">
                <a:solidFill>
                  <a:srgbClr val="5F6B7A"/>
                </a:solidFill>
              </a:rPr>
              <a:t>Chiếm tài khoản hoặc dùng credential lộ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FE87B5-769D-425A-8A22-F9D3188F9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571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F4E79"/>
                </a:solidFill>
              </a:defRPr>
            </a:pPr>
            <a:r>
              <a:rPr sz="1800" b="1">
                <a:solidFill>
                  <a:srgbClr val="1F4E79"/>
                </a:solidFill>
              </a:rPr>
              <a:t>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DDF09C-33A2-464F-BC50-3D2B4BC20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4785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24D"/>
                </a:solidFill>
              </a:defRPr>
            </a:pPr>
            <a:r>
              <a:rPr sz="1650" b="1">
                <a:solidFill>
                  <a:srgbClr val="17324D"/>
                </a:solidFill>
              </a:rPr>
              <a:t>Tampering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E2F2DE-3BC4-4F06-8248-5A9788070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847850"/>
            <a:ext cx="685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A"/>
                </a:solidFill>
              </a:defRPr>
            </a:pPr>
            <a:r>
              <a:rPr sz="1500" b="0">
                <a:solidFill>
                  <a:srgbClr val="5F6B7A"/>
                </a:solidFill>
              </a:rPr>
              <a:t>Sửa dữ liệu trong bucket/database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F21F36-5688-45C3-BC09-611577798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52700"/>
            <a:ext cx="571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EF4FA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F4E79"/>
                </a:solidFill>
              </a:defRPr>
            </a:pPr>
            <a:r>
              <a:rPr sz="1800" b="1">
                <a:solidFill>
                  <a:srgbClr val="1F4E79"/>
                </a:solidFill>
              </a:rPr>
              <a:t>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CD4C89-37E6-46D4-A7BA-AA8D8EE94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90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24D"/>
                </a:solidFill>
              </a:defRPr>
            </a:pPr>
            <a:r>
              <a:rPr sz="1650" b="1">
                <a:solidFill>
                  <a:srgbClr val="17324D"/>
                </a:solidFill>
              </a:rPr>
              <a:t>Repudiation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943486-A163-4DB9-A998-B98C45BEA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590800"/>
            <a:ext cx="685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A"/>
                </a:solidFill>
              </a:defRPr>
            </a:pPr>
            <a:r>
              <a:rPr sz="1500" b="0">
                <a:solidFill>
                  <a:srgbClr val="5F6B7A"/>
                </a:solidFill>
              </a:rPr>
              <a:t>Thiếu audit log để truy vết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F3EB1C-8F48-4465-9A33-772D65E2E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95650"/>
            <a:ext cx="571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F4E79"/>
                </a:solidFill>
              </a:defRPr>
            </a:pPr>
            <a:r>
              <a:rPr sz="1800" b="1">
                <a:solidFill>
                  <a:srgbClr val="1F4E79"/>
                </a:solidFill>
              </a:rPr>
              <a:t>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673487-24BD-4FCE-AD78-E6AED0D6B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3375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24D"/>
                </a:solidFill>
              </a:defRPr>
            </a:pPr>
            <a:r>
              <a:rPr sz="1650" b="1">
                <a:solidFill>
                  <a:srgbClr val="17324D"/>
                </a:solidFill>
              </a:rPr>
              <a:t>Info Disclosure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863E96-A1C9-465A-8E7E-1B23E6508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333750"/>
            <a:ext cx="685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A"/>
                </a:solidFill>
              </a:defRPr>
            </a:pPr>
            <a:r>
              <a:rPr sz="1500" b="0">
                <a:solidFill>
                  <a:srgbClr val="5F6B7A"/>
                </a:solidFill>
              </a:rPr>
              <a:t>Bucket public, secret plaintext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9C0572-1505-48BC-8F2D-F7D65A1F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38600"/>
            <a:ext cx="571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EF4FA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F4E79"/>
                </a:solidFill>
              </a:defRPr>
            </a:pPr>
            <a:r>
              <a:rPr sz="1800" b="1">
                <a:solidFill>
                  <a:srgbClr val="1F4E79"/>
                </a:solidFill>
              </a:rPr>
              <a:t>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005743-0FD5-4295-8393-F64705369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767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24D"/>
                </a:solidFill>
              </a:defRPr>
            </a:pPr>
            <a:r>
              <a:rPr sz="1650" b="1">
                <a:solidFill>
                  <a:srgbClr val="17324D"/>
                </a:solidFill>
              </a:rPr>
              <a:t>DoS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91F02E-6BFD-4AF7-A431-345EED569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076700"/>
            <a:ext cx="685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A"/>
                </a:solidFill>
              </a:defRPr>
            </a:pPr>
            <a:r>
              <a:rPr sz="1500" b="0">
                <a:solidFill>
                  <a:srgbClr val="5F6B7A"/>
                </a:solidFill>
              </a:rPr>
              <a:t>Request bất thường gây quá tải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F3303F-D9A9-4E62-9408-D54C13BBF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81550"/>
            <a:ext cx="571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F4E79"/>
                </a:solidFill>
              </a:defRPr>
            </a:pPr>
            <a:r>
              <a:rPr sz="1800" b="1">
                <a:solidFill>
                  <a:srgbClr val="1F4E79"/>
                </a:solidFill>
              </a:rPr>
              <a:t>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BF0BCD-3A38-4A91-AA67-FC81ED6C7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1965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24D"/>
                </a:solidFill>
              </a:defRPr>
            </a:pPr>
            <a:r>
              <a:rPr sz="1650" b="1">
                <a:solidFill>
                  <a:srgbClr val="17324D"/>
                </a:solidFill>
              </a:rPr>
              <a:t>Privilege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4AB10C-75B5-42E6-9968-02CE6F742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19650"/>
            <a:ext cx="685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A"/>
                </a:solidFill>
              </a:defRPr>
            </a:pPr>
            <a:r>
              <a:rPr sz="1500" b="0">
                <a:solidFill>
                  <a:srgbClr val="5F6B7A"/>
                </a:solidFill>
              </a:rPr>
              <a:t>User thường có quyền admin</a:t>
            </a:r>
          </a:p>
        </p:txBody>
      </p:sp>
    </p:spTree>
    <p:extLst>
      <p:ext uri="{BB962C8B-B14F-4D97-AF65-F5344CB8AC3E}">
        <p14:creationId xmlns:p14="http://schemas.microsoft.com/office/powerpoint/2010/main" val="51841779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9DBC436-C30D-4005-9298-E41651E8A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1F4E7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E0C62A-C36F-44D7-9B45-2159B1CE3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5250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Lỗi 1: Public Storage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E1F5D1-2014-4656-8C9E-58FF7497F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14300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9EAF7"/>
                </a:solidFill>
              </a:defRPr>
            </a:pPr>
            <a:r>
              <a:rPr sz="1350" b="1">
                <a:solidFill>
                  <a:srgbClr val="D9EAF7"/>
                </a:solidFill>
              </a:rPr>
              <a:t>07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9086b6d2d94015"/>
          <a:stretch xmlns:a="http://schemas.openxmlformats.org/drawingml/2006/main"/>
        </p:blipFill>
        <p:spPr>
          <a:xfrm xmlns:a="http://schemas.openxmlformats.org/drawingml/2006/main">
            <a:off x="666750" y="1577833"/>
            <a:ext cx="5048250" cy="2368835"/>
          </a:xfrm>
          <a:prstGeom xmlns:a="http://schemas.openxmlformats.org/drawingml/2006/main" prst="rect">
            <a:avLst/>
          </a:prstGeom>
        </p:spPr>
      </p:pic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b2f1b8b5084a51"/>
          <a:stretch xmlns:a="http://schemas.openxmlformats.org/drawingml/2006/main"/>
        </p:blipFill>
        <p:spPr>
          <a:xfrm xmlns:a="http://schemas.openxmlformats.org/drawingml/2006/main">
            <a:off x="6191250" y="1490281"/>
            <a:ext cx="5048250" cy="2543938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F8F749-E33D-458C-9A2B-FC5203EF2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762500"/>
            <a:ext cx="76200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2F0"/>
          </a:solidFill>
          <a:ln xmlns:a="http://schemas.openxmlformats.org/drawingml/2006/main" w="9525">
            <a:solidFill>
              <a:srgbClr val="B3261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B3261E"/>
                </a:solidFill>
              </a:defRPr>
            </a:pPr>
            <a:r>
              <a:rPr sz="1650" b="1">
                <a:solidFill>
                  <a:srgbClr val="B3261E"/>
                </a:solidFill>
              </a:rPr>
              <a:t>Object customers.csv có thể mở trực tiếp qua URL</a:t>
            </a:r>
          </a:p>
          <a:p xmlns:a="http://schemas.openxmlformats.org/drawingml/2006/main">
            <a:pPr algn="ctr">
              <a:defRPr sz="1650" b="1">
                <a:solidFill>
                  <a:srgbClr val="B3261E"/>
                </a:solidFill>
              </a:defRPr>
            </a:pPr>
            <a:r>
              <a:rPr sz="1650" b="1">
                <a:solidFill>
                  <a:srgbClr val="B3261E"/>
                </a:solidFill>
              </a:rPr>
              <a:t>không cần xác thực</a:t>
            </a:r>
          </a:p>
        </p:txBody>
      </p:sp>
    </p:spTree>
    <p:extLst>
      <p:ext uri="{BB962C8B-B14F-4D97-AF65-F5344CB8AC3E}">
        <p14:creationId xmlns:p14="http://schemas.microsoft.com/office/powerpoint/2010/main" val="4450785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E68760E-3660-4A30-8F45-DF80FDC7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1F4E7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2CCD60-A703-4467-9CAC-1A6F43BE2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5250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Lỗi 2: IAM Misconfiguration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A98FB4-7357-4868-B16C-94683A528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14300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9EAF7"/>
                </a:solidFill>
              </a:defRPr>
            </a:pPr>
            <a:r>
              <a:rPr sz="1350" b="1">
                <a:solidFill>
                  <a:srgbClr val="D9EAF7"/>
                </a:solidFill>
              </a:rPr>
              <a:t>08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569076e8224cf0"/>
          <a:stretch xmlns:a="http://schemas.openxmlformats.org/drawingml/2006/main"/>
        </p:blipFill>
        <p:spPr>
          <a:xfrm xmlns:a="http://schemas.openxmlformats.org/drawingml/2006/main">
            <a:off x="857250" y="1174576"/>
            <a:ext cx="7239000" cy="3651598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4950D5-7156-4313-8E22-3D80B3EC6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428750"/>
            <a:ext cx="29527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324D"/>
                </a:solidFill>
              </a:defRPr>
            </a:pPr>
            <a:r>
              <a:rPr sz="1575" b="0">
                <a:solidFill>
                  <a:srgbClr val="17324D"/>
                </a:solidFill>
              </a:rPr>
              <a:t>• alice là tài khoản người dùng thường</a:t>
            </a:r>
          </a:p>
          <a:p xmlns:a="http://schemas.openxmlformats.org/drawingml/2006/main">
            <a:pPr algn="l">
              <a:defRPr sz="1575" b="0">
                <a:solidFill>
                  <a:srgbClr val="17324D"/>
                </a:solidFill>
              </a:defRPr>
            </a:pPr>
            <a:r>
              <a:rPr sz="1575" b="0">
                <a:solidFill>
                  <a:srgbClr val="17324D"/>
                </a:solidFill>
              </a:rPr>
              <a:t>• Trong chế độ vulnerable vẫn truy cập được /admin</a:t>
            </a:r>
          </a:p>
          <a:p xmlns:a="http://schemas.openxmlformats.org/drawingml/2006/main">
            <a:pPr algn="l">
              <a:defRPr sz="1575" b="0">
                <a:solidFill>
                  <a:srgbClr val="17324D"/>
                </a:solidFill>
              </a:defRPr>
            </a:pPr>
            <a:r>
              <a:rPr sz="1575" b="0">
                <a:solidFill>
                  <a:srgbClr val="17324D"/>
                </a:solidFill>
              </a:rPr>
              <a:t>• Nguyên nhân: kiểm tra quyền chưa đúng ở server side</a:t>
            </a:r>
          </a:p>
        </p:txBody>
      </p:sp>
    </p:spTree>
    <p:extLst>
      <p:ext uri="{BB962C8B-B14F-4D97-AF65-F5344CB8AC3E}">
        <p14:creationId xmlns:p14="http://schemas.microsoft.com/office/powerpoint/2010/main" val="131683496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C33A35-DC77-45A2-A4DA-71259074D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1F4E7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55BFAC-D1EE-4B8E-B708-CBA8764C3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5250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Lỗi 3: Credential Leakage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654C04-CAEB-4945-A90C-7BDE9A5AB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14300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9EAF7"/>
                </a:solidFill>
              </a:defRPr>
            </a:pPr>
            <a:r>
              <a:rPr sz="1350" b="1">
                <a:solidFill>
                  <a:srgbClr val="D9EAF7"/>
                </a:solidFill>
              </a:rPr>
              <a:t>09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52d3aea914404f"/>
          <a:stretch xmlns:a="http://schemas.openxmlformats.org/drawingml/2006/main"/>
        </p:blipFill>
        <p:spPr>
          <a:xfrm xmlns:a="http://schemas.openxmlformats.org/drawingml/2006/main">
            <a:off x="762000" y="1368244"/>
            <a:ext cx="5810250" cy="2930888"/>
          </a:xfrm>
          <a:prstGeom xmlns:a="http://schemas.openxmlformats.org/drawingml/2006/main" prst="rect">
            <a:avLst/>
          </a:prstGeom>
        </p:spPr>
      </p:pic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e89dd1e3e34e2a"/>
          <a:stretch xmlns:a="http://schemas.openxmlformats.org/drawingml/2006/main"/>
        </p:blipFill>
        <p:spPr>
          <a:xfrm xmlns:a="http://schemas.openxmlformats.org/drawingml/2006/main">
            <a:off x="7000875" y="1392187"/>
            <a:ext cx="3857625" cy="2883001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904867-B967-4812-B2EB-172A08D52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953000"/>
            <a:ext cx="8572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2F0"/>
          </a:solidFill>
          <a:ln xmlns:a="http://schemas.openxmlformats.org/drawingml/2006/main" w="9525">
            <a:solidFill>
              <a:srgbClr val="B3261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B3261E"/>
                </a:solidFill>
              </a:defRPr>
            </a:pPr>
            <a:r>
              <a:rPr sz="1650" b="1">
                <a:solidFill>
                  <a:srgbClr val="B3261E"/>
                </a:solidFill>
              </a:rPr>
              <a:t>DB password, access key và secret key xuất hiện ở dạng rõ</a:t>
            </a:r>
          </a:p>
        </p:txBody>
      </p:sp>
    </p:spTree>
    <p:extLst>
      <p:ext uri="{BB962C8B-B14F-4D97-AF65-F5344CB8AC3E}">
        <p14:creationId xmlns:p14="http://schemas.microsoft.com/office/powerpoint/2010/main" val="159839695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4B15B85-7F74-4A9A-AC9F-B7D887E3F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1F4E7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E7BA14-E233-4066-85F5-DA2256EBD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5250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Chuyển sang trạng thái fixed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2E6C02-E2CC-4E5A-85D1-D7C94653B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14300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9EAF7"/>
                </a:solidFill>
              </a:defRPr>
            </a:pPr>
            <a:r>
              <a:rPr sz="1350" b="1">
                <a:solidFill>
                  <a:srgbClr val="D9EAF7"/>
                </a:solidFill>
              </a:rPr>
              <a:t>10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e2056ced1a491a"/>
          <a:stretch xmlns:a="http://schemas.openxmlformats.org/drawingml/2006/main"/>
        </p:blipFill>
        <p:spPr>
          <a:xfrm xmlns:a="http://schemas.openxmlformats.org/drawingml/2006/main">
            <a:off x="904875" y="1238037"/>
            <a:ext cx="4333875" cy="3238927"/>
          </a:xfrm>
          <a:prstGeom xmlns:a="http://schemas.openxmlformats.org/drawingml/2006/main" prst="rect">
            <a:avLst/>
          </a:prstGeom>
        </p:spPr>
      </p:pic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8ee953f5214c64"/>
          <a:stretch xmlns:a="http://schemas.openxmlformats.org/drawingml/2006/main"/>
        </p:blipFill>
        <p:spPr>
          <a:xfrm xmlns:a="http://schemas.openxmlformats.org/drawingml/2006/main">
            <a:off x="6953250" y="1255697"/>
            <a:ext cx="4333875" cy="3203606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9173B8-BD1F-4A49-A5EA-152EECC62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810125"/>
            <a:ext cx="3714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2F0"/>
          </a:solidFill>
          <a:ln xmlns:a="http://schemas.openxmlformats.org/drawingml/2006/main" w="9525">
            <a:solidFill>
              <a:srgbClr val="B3261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3261E"/>
                </a:solidFill>
              </a:defRPr>
            </a:pPr>
            <a:r>
              <a:rPr sz="1500" b="1">
                <a:solidFill>
                  <a:srgbClr val="B3261E"/>
                </a:solidFill>
              </a:rPr>
              <a:t>Before</a:t>
            </a:r>
          </a:p>
          <a:p xmlns:a="http://schemas.openxmlformats.org/drawingml/2006/main">
            <a:pPr algn="ctr">
              <a:defRPr sz="1500" b="1">
                <a:solidFill>
                  <a:srgbClr val="B3261E"/>
                </a:solidFill>
              </a:defRPr>
            </a:pPr>
            <a:r>
              <a:rPr sz="1500" b="1">
                <a:solidFill>
                  <a:srgbClr val="B3261E"/>
                </a:solidFill>
              </a:rPr>
              <a:t>APP_MODE=vulnerable</a:t>
            </a:r>
          </a:p>
          <a:p xmlns:a="http://schemas.openxmlformats.org/drawingml/2006/main">
            <a:pPr algn="ctr">
              <a:defRPr sz="1500" b="1">
                <a:solidFill>
                  <a:srgbClr val="B3261E"/>
                </a:solidFill>
              </a:defRPr>
            </a:pPr>
            <a:r>
              <a:rPr sz="1500" b="1">
                <a:solidFill>
                  <a:srgbClr val="B3261E"/>
                </a:solidFill>
              </a:rPr>
              <a:t>SECRET_MODE=plaintext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75C12A-9E2D-407C-B127-855ADDD0C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4810125"/>
            <a:ext cx="3714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1FAF3"/>
          </a:solidFill>
          <a:ln xmlns:a="http://schemas.openxmlformats.org/drawingml/2006/main" w="9525">
            <a:solidFill>
              <a:srgbClr val="2E7D3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E7D32"/>
                </a:solidFill>
              </a:defRPr>
            </a:pPr>
            <a:r>
              <a:rPr sz="1500" b="1">
                <a:solidFill>
                  <a:srgbClr val="2E7D32"/>
                </a:solidFill>
              </a:rPr>
              <a:t>After</a:t>
            </a:r>
          </a:p>
          <a:p xmlns:a="http://schemas.openxmlformats.org/drawingml/2006/main">
            <a:pPr algn="ctr">
              <a:defRPr sz="1500" b="1">
                <a:solidFill>
                  <a:srgbClr val="2E7D32"/>
                </a:solidFill>
              </a:defRPr>
            </a:pPr>
            <a:r>
              <a:rPr sz="1500" b="1">
                <a:solidFill>
                  <a:srgbClr val="2E7D32"/>
                </a:solidFill>
              </a:rPr>
              <a:t>APP_MODE=fixed</a:t>
            </a:r>
          </a:p>
          <a:p xmlns:a="http://schemas.openxmlformats.org/drawingml/2006/main">
            <a:pPr algn="ctr">
              <a:defRPr sz="1500" b="1">
                <a:solidFill>
                  <a:srgbClr val="2E7D32"/>
                </a:solidFill>
              </a:defRPr>
            </a:pPr>
            <a:r>
              <a:rPr sz="1500" b="1">
                <a:solidFill>
                  <a:srgbClr val="2E7D32"/>
                </a:solidFill>
              </a:rPr>
              <a:t>SECRET_MODE=encrypted</a:t>
            </a:r>
          </a:p>
        </p:txBody>
      </p:sp>
    </p:spTree>
    <p:extLst>
      <p:ext uri="{BB962C8B-B14F-4D97-AF65-F5344CB8AC3E}">
        <p14:creationId xmlns:p14="http://schemas.microsoft.com/office/powerpoint/2010/main" val="127640031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AC9BA41-DF38-462A-B43F-02180A562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1F4E7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061B4E-6101-4BC6-BAD9-97368024C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5250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Kết quả sau khắc phục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15830D-DFEA-4EBB-AAA7-900CAA8E3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14300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9EAF7"/>
                </a:solidFill>
              </a:defRPr>
            </a:pPr>
            <a:r>
              <a:rPr sz="1350" b="1">
                <a:solidFill>
                  <a:srgbClr val="D9EAF7"/>
                </a:solidFill>
              </a:rPr>
              <a:t>11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b68f80172343c5"/>
          <a:stretch xmlns:a="http://schemas.openxmlformats.org/drawingml/2006/main"/>
        </p:blipFill>
        <p:spPr>
          <a:xfrm xmlns:a="http://schemas.openxmlformats.org/drawingml/2006/main">
            <a:off x="666750" y="1416682"/>
            <a:ext cx="5143500" cy="2595885"/>
          </a:xfrm>
          <a:prstGeom xmlns:a="http://schemas.openxmlformats.org/drawingml/2006/main" prst="rect">
            <a:avLst/>
          </a:prstGeom>
        </p:spPr>
      </p:pic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5440ea4a934441"/>
          <a:stretch xmlns:a="http://schemas.openxmlformats.org/drawingml/2006/main"/>
        </p:blipFill>
        <p:spPr>
          <a:xfrm xmlns:a="http://schemas.openxmlformats.org/drawingml/2006/main">
            <a:off x="6381750" y="1422004"/>
            <a:ext cx="5143500" cy="2585243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29B90E-9655-4441-AB32-98BC91BD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67250"/>
            <a:ext cx="3810000" cy="714375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1FAF3"/>
          </a:solidFill>
          <a:ln xmlns:a="http://schemas.openxmlformats.org/drawingml/2006/main" w="9525">
            <a:solidFill>
              <a:srgbClr val="2E7D3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E7D32"/>
                </a:solidFill>
              </a:defRPr>
            </a:pPr>
            <a:r>
              <a:rPr sz="1500" b="1">
                <a:solidFill>
                  <a:srgbClr val="2E7D32"/>
                </a:solidFill>
              </a:rPr>
              <a:t>alice bị chặn khỏi /admin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FC68E3-A9DB-43AD-AFD7-665E4ACE9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667250"/>
            <a:ext cx="4000500" cy="714375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1FAF3"/>
          </a:solidFill>
          <a:ln xmlns:a="http://schemas.openxmlformats.org/drawingml/2006/main" w="9525">
            <a:solidFill>
              <a:srgbClr val="2E7D3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E7D32"/>
                </a:solidFill>
              </a:defRPr>
            </a:pPr>
            <a:r>
              <a:rPr sz="1500" b="1">
                <a:solidFill>
                  <a:srgbClr val="2E7D32"/>
                </a:solidFill>
              </a:rPr>
              <a:t>object private, truy cập trực tiếp bị từ chối</a:t>
            </a:r>
          </a:p>
        </p:txBody>
      </p:sp>
    </p:spTree>
    <p:extLst>
      <p:ext uri="{BB962C8B-B14F-4D97-AF65-F5344CB8AC3E}">
        <p14:creationId xmlns:p14="http://schemas.microsoft.com/office/powerpoint/2010/main" val="173376381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06D84E1-CB5D-4DE7-88B5-4E7C19823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1F4E7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96B38D-57F0-4083-A9E1-95B3FE492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5250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Secret được mã hóa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DA027F-A1CD-440C-9FC1-B8D4805FA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14300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9EAF7"/>
                </a:solidFill>
              </a:defRPr>
            </a:pPr>
            <a:r>
              <a:rPr sz="1350" b="1">
                <a:solidFill>
                  <a:srgbClr val="D9EAF7"/>
                </a:solidFill>
              </a:rPr>
              <a:t>12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c5c73875a54674"/>
          <a:stretch xmlns:a="http://schemas.openxmlformats.org/drawingml/2006/main"/>
        </p:blipFill>
        <p:spPr>
          <a:xfrm xmlns:a="http://schemas.openxmlformats.org/drawingml/2006/main">
            <a:off x="952500" y="1174576"/>
            <a:ext cx="7239000" cy="3651598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449660-8C4E-45D9-9552-2B3D8AAF2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476375"/>
            <a:ext cx="2714625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324D"/>
                </a:solidFill>
              </a:defRPr>
            </a:pPr>
            <a:r>
              <a:rPr sz="1575" b="0">
                <a:solidFill>
                  <a:srgbClr val="17324D"/>
                </a:solidFill>
              </a:rPr>
              <a:t>• Secret được tách khỏi cấu hình trực tiếp</a:t>
            </a:r>
          </a:p>
          <a:p xmlns:a="http://schemas.openxmlformats.org/drawingml/2006/main">
            <a:pPr algn="l">
              <a:defRPr sz="1575" b="0">
                <a:solidFill>
                  <a:srgbClr val="17324D"/>
                </a:solidFill>
              </a:defRPr>
            </a:pPr>
            <a:r>
              <a:rPr sz="1575" b="0">
                <a:solidFill>
                  <a:srgbClr val="17324D"/>
                </a:solidFill>
              </a:rPr>
              <a:t>• Ứng dụng chỉ giải mã khi chạy</a:t>
            </a:r>
          </a:p>
          <a:p xmlns:a="http://schemas.openxmlformats.org/drawingml/2006/main">
            <a:pPr algn="l">
              <a:defRPr sz="1575" b="0">
                <a:solidFill>
                  <a:srgbClr val="17324D"/>
                </a:solidFill>
              </a:defRPr>
            </a:pPr>
            <a:r>
              <a:rPr sz="1575" b="0">
                <a:solidFill>
                  <a:srgbClr val="17324D"/>
                </a:solidFill>
              </a:rPr>
              <a:t>• Giảm tác động nếu source/config bị lộ</a:t>
            </a:r>
          </a:p>
        </p:txBody>
      </p:sp>
    </p:spTree>
    <p:extLst>
      <p:ext uri="{BB962C8B-B14F-4D97-AF65-F5344CB8AC3E}">
        <p14:creationId xmlns:p14="http://schemas.microsoft.com/office/powerpoint/2010/main" val="27796031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521AB5A-1A99-4C79-B575-9728D78D8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1F4E7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12F3A2-E053-44B3-800E-6BB6AAA78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5250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So sánh trước và sau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EE20BB-6D04-4D79-95F0-2C4C36256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14300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9EAF7"/>
                </a:solidFill>
              </a:defRPr>
            </a:pPr>
            <a:r>
              <a:rPr sz="1350" b="1">
                <a:solidFill>
                  <a:srgbClr val="D9EAF7"/>
                </a:solidFill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E6F4D8-72EF-494C-8FAF-89B045829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2190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Hạng mục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D7D5B2-AE4C-4695-9E33-21796282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381125"/>
            <a:ext cx="4095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Trước khi khắc phục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E64658-828B-459F-B223-8591DB76D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1381125"/>
            <a:ext cx="4095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Sau khi khắc phục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19A39E-4CA2-4486-B15B-3FEE1A7C5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6425"/>
            <a:ext cx="2190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EEF4FA"/>
          </a:solidFill>
          <a:ln xmlns:a="http://schemas.openxmlformats.org/drawingml/2006/main" w="9525">
            <a:solidFill>
              <a:srgbClr val="C8D3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324D"/>
                </a:solidFill>
              </a:defRPr>
            </a:pPr>
            <a:r>
              <a:rPr sz="1350" b="1">
                <a:solidFill>
                  <a:srgbClr val="17324D"/>
                </a:solidFill>
              </a:rPr>
              <a:t>Public Bucket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7DFBF8-2764-4556-AF97-E06497D3C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876425"/>
            <a:ext cx="4095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7324D"/>
                </a:solidFill>
              </a:defRPr>
            </a:pPr>
            <a:r>
              <a:rPr sz="1275" b="0">
                <a:solidFill>
                  <a:srgbClr val="17324D"/>
                </a:solidFill>
              </a:rPr>
              <a:t>Object trong MinIO mở trực tiếp không cần xác thực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353F52-8FBF-4596-87B5-FE2C56C0B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1876425"/>
            <a:ext cx="4095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7324D"/>
                </a:solidFill>
              </a:defRPr>
            </a:pPr>
            <a:r>
              <a:rPr sz="1275" b="0">
                <a:solidFill>
                  <a:srgbClr val="17324D"/>
                </a:solidFill>
              </a:rPr>
              <a:t>Bucket private, truy cập trực tiếp bị từ chối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F7D678-5361-437E-B155-8CA0B9DD4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81275"/>
            <a:ext cx="2190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EEF4FA"/>
          </a:solidFill>
          <a:ln xmlns:a="http://schemas.openxmlformats.org/drawingml/2006/main" w="9525">
            <a:solidFill>
              <a:srgbClr val="C8D3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324D"/>
                </a:solidFill>
              </a:defRPr>
            </a:pPr>
            <a:r>
              <a:rPr sz="1350" b="1">
                <a:solidFill>
                  <a:srgbClr val="17324D"/>
                </a:solidFill>
              </a:rPr>
              <a:t>IAM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C377A9-4222-45F2-9A8A-53079439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581275"/>
            <a:ext cx="4095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7324D"/>
                </a:solidFill>
              </a:defRPr>
            </a:pPr>
            <a:r>
              <a:rPr sz="1275" b="0">
                <a:solidFill>
                  <a:srgbClr val="17324D"/>
                </a:solidFill>
              </a:rPr>
              <a:t>User thường alice truy cập được /admin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BEB8AE-B6E0-4C81-B5A4-FC99ABDD6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581275"/>
            <a:ext cx="4095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7324D"/>
                </a:solidFill>
              </a:defRPr>
            </a:pPr>
            <a:r>
              <a:rPr sz="1275" b="0">
                <a:solidFill>
                  <a:srgbClr val="17324D"/>
                </a:solidFill>
              </a:rPr>
              <a:t>alice bị chặn khỏi trang quản trị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B8AE74-8CDE-451C-8986-45F309F89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2190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EEF4FA"/>
          </a:solidFill>
          <a:ln xmlns:a="http://schemas.openxmlformats.org/drawingml/2006/main" w="9525">
            <a:solidFill>
              <a:srgbClr val="C8D3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324D"/>
                </a:solidFill>
              </a:defRPr>
            </a:pPr>
            <a:r>
              <a:rPr sz="1350" b="1">
                <a:solidFill>
                  <a:srgbClr val="17324D"/>
                </a:solidFill>
              </a:rPr>
              <a:t>Credential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8297CC-0B36-4821-A8D7-1C04E72BA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286125"/>
            <a:ext cx="4095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7324D"/>
                </a:solidFill>
              </a:defRPr>
            </a:pPr>
            <a:r>
              <a:rPr sz="1275" b="0">
                <a:solidFill>
                  <a:srgbClr val="17324D"/>
                </a:solidFill>
              </a:rPr>
              <a:t>DB password và MinIO key ở dạng rõ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B60329-C206-46C2-B106-C2275329F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286125"/>
            <a:ext cx="4095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7324D"/>
                </a:solidFill>
              </a:defRPr>
            </a:pPr>
            <a:r>
              <a:rPr sz="1275" b="0">
                <a:solidFill>
                  <a:srgbClr val="17324D"/>
                </a:solidFill>
              </a:rPr>
              <a:t>Secret được tách riêng và mã hóa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0E914C-DD4A-4F3C-BAA1-1B1316898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2190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EEF4FA"/>
          </a:solidFill>
          <a:ln xmlns:a="http://schemas.openxmlformats.org/drawingml/2006/main" w="9525">
            <a:solidFill>
              <a:srgbClr val="C8D3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324D"/>
                </a:solidFill>
              </a:defRPr>
            </a:pPr>
            <a:r>
              <a:rPr sz="1350" b="1">
                <a:solidFill>
                  <a:srgbClr val="17324D"/>
                </a:solidFill>
              </a:rPr>
              <a:t>Rủi ro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922049-9EA7-4FAF-A073-5CB3C940C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990975"/>
            <a:ext cx="4095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7324D"/>
                </a:solidFill>
              </a:defRPr>
            </a:pPr>
            <a:r>
              <a:rPr sz="1275" b="0">
                <a:solidFill>
                  <a:srgbClr val="17324D"/>
                </a:solidFill>
              </a:rPr>
              <a:t>Có nguy cơ rò rỉ dữ liệu khách hàng và secret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E8C141-5565-4743-9721-7605E82A3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990975"/>
            <a:ext cx="4095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7324D"/>
                </a:solidFill>
              </a:defRPr>
            </a:pPr>
            <a:r>
              <a:rPr sz="1275" b="0">
                <a:solidFill>
                  <a:srgbClr val="17324D"/>
                </a:solidFill>
              </a:rPr>
              <a:t>Giảm rủi ro bằng least privilege và encrypted secret</a:t>
            </a:r>
          </a:p>
        </p:txBody>
      </p:sp>
    </p:spTree>
    <p:extLst>
      <p:ext uri="{BB962C8B-B14F-4D97-AF65-F5344CB8AC3E}">
        <p14:creationId xmlns:p14="http://schemas.microsoft.com/office/powerpoint/2010/main" val="13505638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C50E365-2839-43DF-9869-6668FD2EA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1F4E7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242DDA-E33B-4492-9113-8BB0F9910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5250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Kết luận và demo trực tiếp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7D1DFC-06CB-492F-83C3-747D91CC4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14300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9EAF7"/>
                </a:solidFill>
              </a:defRPr>
            </a:pPr>
            <a:r>
              <a:rPr sz="1350" b="1">
                <a:solidFill>
                  <a:srgbClr val="D9EAF7"/>
                </a:solidFill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3921A0-FCE0-4248-88E7-5C02189BE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143000"/>
            <a:ext cx="65722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324D"/>
                </a:solidFill>
              </a:defRPr>
            </a:pPr>
            <a:r>
              <a:rPr sz="1875" b="0">
                <a:solidFill>
                  <a:srgbClr val="17324D"/>
                </a:solidFill>
              </a:rPr>
              <a:t>• Cloud security phụ thuộc mạnh vào cấu hình và phân quyền</a:t>
            </a:r>
          </a:p>
          <a:p xmlns:a="http://schemas.openxmlformats.org/drawingml/2006/main">
            <a:pPr algn="l">
              <a:defRPr sz="1875" b="0">
                <a:solidFill>
                  <a:srgbClr val="17324D"/>
                </a:solidFill>
              </a:defRPr>
            </a:pPr>
            <a:r>
              <a:rPr sz="1875" b="0">
                <a:solidFill>
                  <a:srgbClr val="17324D"/>
                </a:solidFill>
              </a:rPr>
              <a:t>• Ba lỗi demo đều phổ biến: public bucket, quyền quá mức, secret plaintext</a:t>
            </a:r>
          </a:p>
          <a:p xmlns:a="http://schemas.openxmlformats.org/drawingml/2006/main">
            <a:pPr algn="l">
              <a:defRPr sz="1875" b="0">
                <a:solidFill>
                  <a:srgbClr val="17324D"/>
                </a:solidFill>
              </a:defRPr>
            </a:pPr>
            <a:r>
              <a:rPr sz="1875" b="0">
                <a:solidFill>
                  <a:srgbClr val="17324D"/>
                </a:solidFill>
              </a:rPr>
              <a:t>• Biện pháp chính: private-by-default, least privilege, encrypted secret, audit log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69BF13-F5F4-4F31-B5F6-A6115BFCB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238250"/>
            <a:ext cx="295275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F4E79"/>
                </a:solidFill>
              </a:defRPr>
            </a:pPr>
            <a:r>
              <a:rPr sz="1650" b="1">
                <a:solidFill>
                  <a:srgbClr val="1F4E79"/>
                </a:solidFill>
              </a:rPr>
              <a:t>Live demo đề xuất</a:t>
            </a:r>
          </a:p>
          <a:p xmlns:a="http://schemas.openxmlformats.org/drawingml/2006/main">
            <a:pPr algn="ctr">
              <a:defRPr sz="1650" b="1">
                <a:solidFill>
                  <a:srgbClr val="1F4E79"/>
                </a:solidFill>
              </a:defRPr>
            </a:pPr>
            <a:r>
              <a:rPr sz="1650" b="1">
                <a:solidFill>
                  <a:srgbClr val="1F4E79"/>
                </a:solidFill>
              </a:rPr>
              <a:t>1. /storage public object</a:t>
            </a:r>
          </a:p>
          <a:p xmlns:a="http://schemas.openxmlformats.org/drawingml/2006/main">
            <a:pPr algn="ctr">
              <a:defRPr sz="1650" b="1">
                <a:solidFill>
                  <a:srgbClr val="1F4E79"/>
                </a:solidFill>
              </a:defRPr>
            </a:pPr>
            <a:r>
              <a:rPr sz="1650" b="1">
                <a:solidFill>
                  <a:srgbClr val="1F4E79"/>
                </a:solidFill>
              </a:rPr>
              <a:t>2. alice truy cập /admin</a:t>
            </a:r>
          </a:p>
          <a:p xmlns:a="http://schemas.openxmlformats.org/drawingml/2006/main">
            <a:pPr algn="ctr">
              <a:defRPr sz="1650" b="1">
                <a:solidFill>
                  <a:srgbClr val="1F4E79"/>
                </a:solidFill>
              </a:defRPr>
            </a:pPr>
            <a:r>
              <a:rPr sz="1650" b="1">
                <a:solidFill>
                  <a:srgbClr val="1F4E79"/>
                </a:solidFill>
              </a:rPr>
              <a:t>3. chuyển sang fixed</a:t>
            </a:r>
          </a:p>
          <a:p xmlns:a="http://schemas.openxmlformats.org/drawingml/2006/main">
            <a:pPr algn="ctr">
              <a:defRPr sz="1650" b="1">
                <a:solidFill>
                  <a:srgbClr val="1F4E79"/>
                </a:solidFill>
              </a:defRPr>
            </a:pPr>
            <a:r>
              <a:rPr sz="1650" b="1">
                <a:solidFill>
                  <a:srgbClr val="1F4E79"/>
                </a:solidFill>
              </a:rPr>
              <a:t>4. object/admin bị chặn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63C014-71CA-429A-B505-E0640B248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95875"/>
            <a:ext cx="981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324D"/>
                </a:solidFill>
              </a:defRPr>
            </a:pPr>
            <a:r>
              <a:rPr sz="1800" b="1">
                <a:solidFill>
                  <a:srgbClr val="17324D"/>
                </a:solidFill>
              </a:rPr>
              <a:t>Thông điệp chính: cấu hình nhỏ có thể tạo rủi ro lớn, nhưng kiểm soát đúng giúp giảm đáng kể bề mặt tấn công.</a:t>
            </a:r>
          </a:p>
        </p:txBody>
      </p:sp>
    </p:spTree>
    <p:extLst>
      <p:ext uri="{BB962C8B-B14F-4D97-AF65-F5344CB8AC3E}">
        <p14:creationId xmlns:p14="http://schemas.microsoft.com/office/powerpoint/2010/main" val="146133366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2026-06-26T06:13:01.4640000Z</dcterms:created>
  <dcterms:modified xsi:type="dcterms:W3CDTF">2026-06-26T06:13:01.4640000Z</dcterms:modified>
</coreProperties>
</file>